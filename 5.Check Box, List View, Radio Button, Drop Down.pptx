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6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7" r:id="rId15"/>
    <p:sldId id="286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7" r:id="rId34"/>
    <p:sldId id="306" r:id="rId35"/>
    <p:sldId id="308" r:id="rId36"/>
    <p:sldId id="309" r:id="rId37"/>
    <p:sldId id="310" r:id="rId38"/>
    <p:sldId id="311" r:id="rId39"/>
    <p:sldId id="28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122363"/>
            <a:ext cx="9144001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3" y="3602038"/>
            <a:ext cx="9144001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122" indent="0" algn="ctr">
              <a:buNone/>
              <a:defRPr sz="2000"/>
            </a:lvl2pPr>
            <a:lvl3pPr marL="914240" indent="0" algn="ctr">
              <a:buNone/>
              <a:defRPr sz="1799"/>
            </a:lvl3pPr>
            <a:lvl4pPr marL="1371359" indent="0" algn="ctr">
              <a:buNone/>
              <a:defRPr sz="1599"/>
            </a:lvl4pPr>
            <a:lvl5pPr marL="1828478" indent="0" algn="ctr">
              <a:buNone/>
              <a:defRPr sz="1599"/>
            </a:lvl5pPr>
            <a:lvl6pPr marL="2285597" indent="0" algn="ctr">
              <a:buNone/>
              <a:defRPr sz="1599"/>
            </a:lvl6pPr>
            <a:lvl7pPr marL="2742718" indent="0" algn="ctr">
              <a:buNone/>
              <a:defRPr sz="1599"/>
            </a:lvl7pPr>
            <a:lvl8pPr marL="3199837" indent="0" algn="ctr">
              <a:buNone/>
              <a:defRPr sz="1599"/>
            </a:lvl8pPr>
            <a:lvl9pPr marL="3656958" indent="0" algn="ctr">
              <a:buNone/>
              <a:defRPr sz="1599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5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71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1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40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359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47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59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71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8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95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3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2" y="1681163"/>
            <a:ext cx="51577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2" y="2505076"/>
            <a:ext cx="515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22" indent="0">
              <a:buNone/>
              <a:defRPr sz="2799"/>
            </a:lvl2pPr>
            <a:lvl3pPr marL="914240" indent="0">
              <a:buNone/>
              <a:defRPr sz="2399"/>
            </a:lvl3pPr>
            <a:lvl4pPr marL="1371359" indent="0">
              <a:buNone/>
              <a:defRPr sz="2000"/>
            </a:lvl4pPr>
            <a:lvl5pPr marL="1828478" indent="0">
              <a:buNone/>
              <a:defRPr sz="2000"/>
            </a:lvl5pPr>
            <a:lvl6pPr marL="2285597" indent="0">
              <a:buNone/>
              <a:defRPr sz="2000"/>
            </a:lvl6pPr>
            <a:lvl7pPr marL="2742718" indent="0">
              <a:buNone/>
              <a:defRPr sz="2000"/>
            </a:lvl7pPr>
            <a:lvl8pPr marL="3199837" indent="0">
              <a:buNone/>
              <a:defRPr sz="2000"/>
            </a:lvl8pPr>
            <a:lvl9pPr marL="365695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365125"/>
            <a:ext cx="262890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4" y="365125"/>
            <a:ext cx="7734299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4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6" y="6356358"/>
            <a:ext cx="411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5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40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0" indent="-228560" algn="l" defTabSz="91424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80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7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22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9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1" y="2219417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199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6" y="390618"/>
            <a:ext cx="3541046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0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6208" y="791650"/>
            <a:ext cx="4767812" cy="5509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21" rIns="91437" bIns="45721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Check Box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List View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Radio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Dropdown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Navigation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Box</a:t>
            </a:r>
          </a:p>
        </p:txBody>
      </p:sp>
      <p:sp>
        <p:nvSpPr>
          <p:cNvPr id="2" name="Rectangle 1"/>
          <p:cNvSpPr/>
          <p:nvPr/>
        </p:nvSpPr>
        <p:spPr>
          <a:xfrm>
            <a:off x="757384" y="1471185"/>
            <a:ext cx="6096001" cy="25841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Checkbox(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</p:txBody>
      </p:sp>
      <p:sp>
        <p:nvSpPr>
          <p:cNvPr id="3" name="Rectangle 2"/>
          <p:cNvSpPr/>
          <p:nvPr/>
        </p:nvSpPr>
        <p:spPr>
          <a:xfrm>
            <a:off x="886692" y="2163680"/>
            <a:ext cx="6096001" cy="11998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value: </a:t>
            </a:r>
            <a:r>
              <a:rPr lang="en-US" sz="1799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: (bool? 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newValue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799" dirty="0">
                <a:solidFill>
                  <a:srgbClr val="008000"/>
                </a:solidFill>
                <a:latin typeface="Consolas" panose="020B0609020204030204" pitchFamily="49" charset="0"/>
              </a:rPr>
              <a:t>// Handle checkbox state change</a:t>
            </a:r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},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572" y="1620638"/>
            <a:ext cx="1257299" cy="1455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24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Box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1" y="2163676"/>
            <a:ext cx="6096001" cy="31379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Checkbox(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</p:txBody>
      </p:sp>
      <p:sp>
        <p:nvSpPr>
          <p:cNvPr id="3" name="Rectangle 2"/>
          <p:cNvSpPr/>
          <p:nvPr/>
        </p:nvSpPr>
        <p:spPr>
          <a:xfrm>
            <a:off x="701967" y="2754945"/>
            <a:ext cx="6096001" cy="23072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value: 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isChecked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: (bool? 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newValue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 _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isChecked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newVAlue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!;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((){});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},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612" y="1620638"/>
            <a:ext cx="1257299" cy="14554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245025" y="966419"/>
            <a:ext cx="38523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bool _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isChecked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551" y="1620638"/>
            <a:ext cx="1257299" cy="1455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973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Box</a:t>
            </a:r>
          </a:p>
        </p:txBody>
      </p:sp>
      <p:pic>
        <p:nvPicPr>
          <p:cNvPr id="8" name="Picture 7" descr="C:\Users\Administrator\Desktop\s1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1" y="1173023"/>
            <a:ext cx="3306618" cy="4525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4673601" y="1865748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106971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List View</a:t>
            </a:r>
          </a:p>
        </p:txBody>
      </p:sp>
    </p:spTree>
    <p:extLst>
      <p:ext uri="{BB962C8B-B14F-4D97-AF65-F5344CB8AC3E}">
        <p14:creationId xmlns:p14="http://schemas.microsoft.com/office/powerpoint/2010/main" val="4619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View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563420" y="1296016"/>
            <a:ext cx="3029526" cy="313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 err="1">
                <a:solidFill>
                  <a:srgbClr val="FF0000"/>
                </a:solidFill>
                <a:latin typeface="Consolas" panose="020B0609020204030204" pitchFamily="49" charset="0"/>
              </a:rPr>
              <a:t>ListView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         </a:t>
            </a: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20" y="2071687"/>
            <a:ext cx="7795491" cy="1753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children: [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Colors.red,height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Colors.blue,height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Colors.green,height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],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257" y="973861"/>
            <a:ext cx="2247901" cy="47625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05" y="1179019"/>
            <a:ext cx="5553635" cy="74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View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563420" y="1296016"/>
            <a:ext cx="3029526" cy="313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 err="1">
                <a:solidFill>
                  <a:srgbClr val="FF0000"/>
                </a:solidFill>
                <a:latin typeface="Consolas" panose="020B0609020204030204" pitchFamily="49" charset="0"/>
              </a:rPr>
              <a:t>ListView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         </a:t>
            </a: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20" y="2071687"/>
            <a:ext cx="7795491" cy="1753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children: [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Colors.red,height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Colors.blue,height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Container(color: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Colors.green,height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,width: </a:t>
            </a:r>
            <a:r>
              <a:rPr lang="en-US" sz="1799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,),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],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926" y="1671232"/>
            <a:ext cx="4996881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scrollDirection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Axis.</a:t>
            </a:r>
            <a:r>
              <a:rPr lang="en-US" sz="1799" b="1" dirty="0" err="1">
                <a:solidFill>
                  <a:srgbClr val="098658"/>
                </a:solidFill>
                <a:latin typeface="Consolas" panose="020B0609020204030204" pitchFamily="49" charset="0"/>
              </a:rPr>
              <a:t>horizontal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931" y="938610"/>
            <a:ext cx="2643764" cy="306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9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View builder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5" name="Rectangle 4"/>
          <p:cNvSpPr/>
          <p:nvPr/>
        </p:nvSpPr>
        <p:spPr>
          <a:xfrm>
            <a:off x="157022" y="852532"/>
            <a:ext cx="480290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ListView.builder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</a:t>
            </a:r>
            <a:r>
              <a:rPr lang="en-US" sz="1799" b="1" dirty="0" err="1">
                <a:solidFill>
                  <a:srgbClr val="0070C0"/>
                </a:solidFill>
              </a:rPr>
              <a:t>itemCount</a:t>
            </a:r>
            <a:r>
              <a:rPr lang="en-US" sz="1799" b="1" dirty="0">
                <a:solidFill>
                  <a:srgbClr val="0070C0"/>
                </a:solidFill>
              </a:rPr>
              <a:t>: </a:t>
            </a:r>
            <a:r>
              <a:rPr lang="en-US" sz="1799" b="1" dirty="0"/>
              <a:t>10</a:t>
            </a:r>
            <a:r>
              <a:rPr lang="en-US" sz="1799" b="1" dirty="0">
                <a:solidFill>
                  <a:srgbClr val="0070C0"/>
                </a:solidFill>
              </a:rPr>
              <a:t>,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   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</a:t>
            </a:r>
          </a:p>
          <a:p>
            <a:endParaRPr lang="en-US" sz="20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en-US" sz="20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</a:t>
            </a:r>
            <a:b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endParaRPr lang="en-US" sz="20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66" y="1677552"/>
            <a:ext cx="11430663" cy="64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View builder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5" name="Rectangle 4"/>
          <p:cNvSpPr/>
          <p:nvPr/>
        </p:nvSpPr>
        <p:spPr>
          <a:xfrm>
            <a:off x="157020" y="852534"/>
            <a:ext cx="6865949" cy="5569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ListView.builder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</a:t>
            </a:r>
            <a:r>
              <a:rPr lang="en-US" sz="1799" b="1" dirty="0" err="1">
                <a:solidFill>
                  <a:srgbClr val="0070C0"/>
                </a:solidFill>
              </a:rPr>
              <a:t>itemCount</a:t>
            </a:r>
            <a:r>
              <a:rPr lang="en-US" sz="1799" b="1" dirty="0">
                <a:solidFill>
                  <a:srgbClr val="0070C0"/>
                </a:solidFill>
              </a:rPr>
              <a:t>: </a:t>
            </a:r>
            <a:r>
              <a:rPr lang="en-US" sz="1799" b="1" dirty="0"/>
              <a:t>10</a:t>
            </a:r>
            <a:r>
              <a:rPr lang="en-US" sz="1799" b="1" dirty="0">
                <a:solidFill>
                  <a:srgbClr val="0070C0"/>
                </a:solidFill>
              </a:rPr>
              <a:t>,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799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399" b="1" dirty="0" err="1">
                <a:solidFill>
                  <a:schemeClr val="accent2">
                    <a:lumMod val="75000"/>
                  </a:schemeClr>
                </a:solidFill>
              </a:rPr>
              <a:t>itemBuilder</a:t>
            </a:r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: (</a:t>
            </a:r>
            <a:r>
              <a:rPr lang="en-US" sz="2399" b="1" dirty="0" err="1">
                <a:solidFill>
                  <a:schemeClr val="accent2">
                    <a:lumMod val="75000"/>
                  </a:schemeClr>
                </a:solidFill>
              </a:rPr>
              <a:t>BuildContext</a:t>
            </a:r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399" b="1" dirty="0" err="1">
                <a:solidFill>
                  <a:schemeClr val="accent2">
                    <a:lumMod val="75000"/>
                  </a:schemeClr>
                </a:solidFill>
              </a:rPr>
              <a:t>context,int</a:t>
            </a:r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 index){</a:t>
            </a:r>
          </a:p>
          <a:p>
            <a:endParaRPr lang="en-US" sz="2399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2399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              </a:t>
            </a:r>
          </a:p>
          <a:p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           </a:t>
            </a:r>
          </a:p>
          <a:p>
            <a:endParaRPr lang="en-US" sz="2399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endParaRPr lang="en-US" sz="2399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399" b="1" dirty="0">
                <a:solidFill>
                  <a:schemeClr val="accent2">
                    <a:lumMod val="75000"/>
                  </a:schemeClr>
                </a:solidFill>
              </a:rPr>
              <a:t>},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  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    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" y="2243519"/>
            <a:ext cx="8691513" cy="2307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Container(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height: </a:t>
            </a:r>
            <a:r>
              <a:rPr lang="en-US" sz="1799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width: </a:t>
            </a:r>
            <a:r>
              <a:rPr lang="en-US" sz="1799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Colors.amber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margin: </a:t>
            </a:r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EdgeInsets.all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99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child: Center(child: Text(</a:t>
            </a:r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'Container #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${index}</a:t>
            </a:r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)),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);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609" y="1054724"/>
            <a:ext cx="2819399" cy="536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9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Radio Button</a:t>
            </a:r>
          </a:p>
        </p:txBody>
      </p:sp>
    </p:spTree>
    <p:extLst>
      <p:ext uri="{BB962C8B-B14F-4D97-AF65-F5344CB8AC3E}">
        <p14:creationId xmlns:p14="http://schemas.microsoft.com/office/powerpoint/2010/main" val="242151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Radio button</a:t>
            </a:r>
          </a:p>
        </p:txBody>
      </p:sp>
      <p:sp>
        <p:nvSpPr>
          <p:cNvPr id="2" name="Rectangle 1"/>
          <p:cNvSpPr/>
          <p:nvPr/>
        </p:nvSpPr>
        <p:spPr>
          <a:xfrm>
            <a:off x="501144" y="1588387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501144" y="1002939"/>
            <a:ext cx="6096001" cy="175355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Radio(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   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944" y="1418438"/>
            <a:ext cx="3645030" cy="92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value: value,</a:t>
            </a:r>
          </a:p>
          <a:p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onChanged</a:t>
            </a:r>
            <a:endParaRPr lang="en-US" sz="1799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84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Radio button</a:t>
            </a:r>
          </a:p>
        </p:txBody>
      </p:sp>
      <p:sp>
        <p:nvSpPr>
          <p:cNvPr id="2" name="Rectangle 1"/>
          <p:cNvSpPr/>
          <p:nvPr/>
        </p:nvSpPr>
        <p:spPr>
          <a:xfrm>
            <a:off x="501144" y="1588387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427253" y="1057590"/>
            <a:ext cx="6096001" cy="175355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Radio(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   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944" y="1418438"/>
            <a:ext cx="3645030" cy="92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value:       ,</a:t>
            </a:r>
          </a:p>
          <a:p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onChanged</a:t>
            </a:r>
            <a:endParaRPr lang="en-US" sz="1799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36977" y="1418437"/>
            <a:ext cx="944489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"Male"</a:t>
            </a:r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5312" y="1418437"/>
            <a:ext cx="564578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"M"</a:t>
            </a:r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81951" y="1418437"/>
            <a:ext cx="311304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16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Radio button</a:t>
            </a:r>
          </a:p>
        </p:txBody>
      </p:sp>
      <p:sp>
        <p:nvSpPr>
          <p:cNvPr id="2" name="Rectangle 1"/>
          <p:cNvSpPr/>
          <p:nvPr/>
        </p:nvSpPr>
        <p:spPr>
          <a:xfrm>
            <a:off x="501144" y="1588387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427253" y="1057590"/>
            <a:ext cx="6096001" cy="25841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Radio(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   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944" y="1418438"/>
            <a:ext cx="3645030" cy="92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value:       ,</a:t>
            </a:r>
          </a:p>
          <a:p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/>
              <a:t>"Male"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1799" dirty="0" err="1">
                <a:solidFill>
                  <a:srgbClr val="0070C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836566" y="1418437"/>
            <a:ext cx="944489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"Male"</a:t>
            </a:r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08805" y="2007004"/>
            <a:ext cx="6096001" cy="9229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  <a:t>(String? </a:t>
            </a:r>
            <a:r>
              <a:rPr lang="en-US" sz="1799" dirty="0" err="1">
                <a:solidFill>
                  <a:srgbClr val="7030A0"/>
                </a:solidFill>
                <a:latin typeface="Consolas" panose="020B0609020204030204" pitchFamily="49" charset="0"/>
              </a:rPr>
              <a:t>val</a:t>
            </a:r>
            <a: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  <a:t/>
            </a:r>
            <a:b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  <a:t>           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146" y="3708258"/>
            <a:ext cx="10252364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9" b="1" dirty="0">
                <a:solidFill>
                  <a:srgbClr val="FF0000"/>
                </a:solidFill>
              </a:rPr>
              <a:t>Radio button will be selected if value and group value is same</a:t>
            </a:r>
          </a:p>
        </p:txBody>
      </p:sp>
    </p:spTree>
    <p:extLst>
      <p:ext uri="{BB962C8B-B14F-4D97-AF65-F5344CB8AC3E}">
        <p14:creationId xmlns:p14="http://schemas.microsoft.com/office/powerpoint/2010/main" val="156030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Radio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-85423" y="750515"/>
            <a:ext cx="21919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 String? _</a:t>
            </a:r>
            <a:r>
              <a:rPr lang="en-US" sz="2000" b="1" dirty="0" err="1">
                <a:solidFill>
                  <a:srgbClr val="FF0000"/>
                </a:solidFill>
              </a:rPr>
              <a:t>groupVal</a:t>
            </a:r>
            <a:r>
              <a:rPr lang="en-US" sz="2000" b="1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" y="1083486"/>
            <a:ext cx="7814186" cy="313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  <a:t>Row(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children: [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 Radio(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value: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"Male",</a:t>
            </a:r>
          </a:p>
          <a:p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1799" dirty="0" err="1">
                <a:solidFill>
                  <a:schemeClr val="accent5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1799" dirty="0" err="1">
                <a:solidFill>
                  <a:srgbClr val="FF0000"/>
                </a:solidFill>
                <a:latin typeface="Consolas" panose="020B0609020204030204" pitchFamily="49" charset="0"/>
              </a:rPr>
              <a:t>groupVal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1799" dirty="0" err="1">
                <a:solidFill>
                  <a:schemeClr val="accent5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>
                <a:latin typeface="Consolas" panose="020B0609020204030204" pitchFamily="49" charset="0"/>
              </a:rPr>
              <a:t>(String? </a:t>
            </a:r>
            <a:r>
              <a:rPr lang="en-US" sz="1799" dirty="0" err="1">
                <a:latin typeface="Consolas" panose="020B0609020204030204" pitchFamily="49" charset="0"/>
              </a:rPr>
              <a:t>val</a:t>
            </a:r>
            <a:r>
              <a:rPr lang="en-US" sz="1799" dirty="0">
                <a:latin typeface="Consolas" panose="020B0609020204030204" pitchFamily="49" charset="0"/>
              </a:rPr>
              <a:t>){</a:t>
            </a:r>
          </a:p>
          <a:p>
            <a:r>
              <a:rPr lang="en-US" sz="1799" dirty="0">
                <a:latin typeface="Consolas" panose="020B0609020204030204" pitchFamily="49" charset="0"/>
              </a:rPr>
              <a:t>                   </a:t>
            </a:r>
            <a:r>
              <a:rPr lang="en-US" sz="1799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((){_</a:t>
            </a:r>
            <a:r>
              <a:rPr lang="en-US" sz="1799" dirty="0" err="1">
                <a:solidFill>
                  <a:srgbClr val="C00000"/>
                </a:solidFill>
                <a:latin typeface="Consolas" panose="020B0609020204030204" pitchFamily="49" charset="0"/>
              </a:rPr>
              <a:t>groupVal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=</a:t>
            </a:r>
            <a:r>
              <a:rPr lang="en-US" sz="1799" dirty="0" err="1">
                <a:solidFill>
                  <a:srgbClr val="C00000"/>
                </a:solidFill>
                <a:latin typeface="Consolas" panose="020B0609020204030204" pitchFamily="49" charset="0"/>
              </a:rPr>
              <a:t>val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});</a:t>
            </a:r>
            <a:endParaRPr lang="en-US" sz="1799" dirty="0">
              <a:latin typeface="Consolas" panose="020B0609020204030204" pitchFamily="49" charset="0"/>
            </a:endParaRPr>
          </a:p>
          <a:p>
            <a:r>
              <a:rPr lang="en-US" sz="1799" dirty="0">
                <a:latin typeface="Consolas" panose="020B0609020204030204" pitchFamily="49" charset="0"/>
              </a:rPr>
              <a:t>               }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), 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Text(</a:t>
            </a:r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'Male'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],</a:t>
            </a:r>
          </a:p>
          <a:p>
            <a:r>
              <a:rPr lang="en-US" sz="1799" dirty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9184" y="950574"/>
            <a:ext cx="6206201" cy="313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Row(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children: [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 Radio(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value: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“Female",</a:t>
            </a:r>
          </a:p>
          <a:p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1799" dirty="0" err="1">
                <a:solidFill>
                  <a:schemeClr val="accent5"/>
                </a:solidFill>
                <a:latin typeface="Consolas" panose="020B0609020204030204" pitchFamily="49" charset="0"/>
              </a:rPr>
              <a:t>groupValue</a:t>
            </a:r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sz="1799" dirty="0" err="1">
                <a:solidFill>
                  <a:srgbClr val="FF0000"/>
                </a:solidFill>
                <a:latin typeface="Consolas" panose="020B0609020204030204" pitchFamily="49" charset="0"/>
              </a:rPr>
              <a:t>groupVal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1799" dirty="0" err="1">
                <a:solidFill>
                  <a:schemeClr val="accent5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dirty="0">
                <a:solidFill>
                  <a:schemeClr val="accent5"/>
                </a:solidFill>
                <a:latin typeface="Consolas" panose="020B0609020204030204" pitchFamily="49" charset="0"/>
              </a:rPr>
              <a:t>: </a:t>
            </a:r>
            <a:r>
              <a:rPr lang="en-US" sz="1799" dirty="0">
                <a:latin typeface="Consolas" panose="020B0609020204030204" pitchFamily="49" charset="0"/>
              </a:rPr>
              <a:t>(String? </a:t>
            </a:r>
            <a:r>
              <a:rPr lang="en-US" sz="1799" dirty="0" err="1">
                <a:latin typeface="Consolas" panose="020B0609020204030204" pitchFamily="49" charset="0"/>
              </a:rPr>
              <a:t>val</a:t>
            </a:r>
            <a:r>
              <a:rPr lang="en-US" sz="1799" dirty="0">
                <a:latin typeface="Consolas" panose="020B0609020204030204" pitchFamily="49" charset="0"/>
              </a:rPr>
              <a:t>){</a:t>
            </a:r>
          </a:p>
          <a:p>
            <a:r>
              <a:rPr lang="en-US" sz="1799" dirty="0">
                <a:latin typeface="Consolas" panose="020B0609020204030204" pitchFamily="49" charset="0"/>
              </a:rPr>
              <a:t>                   </a:t>
            </a:r>
            <a:r>
              <a:rPr lang="en-US" sz="1799" dirty="0" err="1">
                <a:solidFill>
                  <a:srgbClr val="C00000"/>
                </a:solidFill>
                <a:latin typeface="Consolas" panose="020B0609020204030204" pitchFamily="49" charset="0"/>
              </a:rPr>
              <a:t>setState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((){_</a:t>
            </a:r>
            <a:r>
              <a:rPr lang="en-US" sz="1799" dirty="0" err="1">
                <a:solidFill>
                  <a:srgbClr val="C00000"/>
                </a:solidFill>
                <a:latin typeface="Consolas" panose="020B0609020204030204" pitchFamily="49" charset="0"/>
              </a:rPr>
              <a:t>groupVal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=</a:t>
            </a:r>
            <a:r>
              <a:rPr lang="en-US" sz="1799" dirty="0" err="1">
                <a:solidFill>
                  <a:srgbClr val="C00000"/>
                </a:solidFill>
                <a:latin typeface="Consolas" panose="020B0609020204030204" pitchFamily="49" charset="0"/>
              </a:rPr>
              <a:t>val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});</a:t>
            </a:r>
            <a:endParaRPr lang="en-US" sz="1799" dirty="0">
              <a:latin typeface="Consolas" panose="020B0609020204030204" pitchFamily="49" charset="0"/>
            </a:endParaRPr>
          </a:p>
          <a:p>
            <a:r>
              <a:rPr lang="en-US" sz="1799" dirty="0">
                <a:latin typeface="Consolas" panose="020B0609020204030204" pitchFamily="49" charset="0"/>
              </a:rPr>
              <a:t>               }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), 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Text(</a:t>
            </a:r>
            <a:r>
              <a:rPr lang="en-US" sz="1799" dirty="0">
                <a:solidFill>
                  <a:srgbClr val="A31515"/>
                </a:solidFill>
                <a:latin typeface="Consolas" panose="020B0609020204030204" pitchFamily="49" charset="0"/>
              </a:rPr>
              <a:t>'Male'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],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799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103" y="3337201"/>
            <a:ext cx="1823138" cy="1593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329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Radio button</a:t>
            </a:r>
          </a:p>
        </p:txBody>
      </p:sp>
      <p:pic>
        <p:nvPicPr>
          <p:cNvPr id="7" name="Picture 6" descr="C:\Users\Administrator\Desktop\Q1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97" y="811620"/>
            <a:ext cx="2102732" cy="373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2284433" y="811621"/>
            <a:ext cx="9395381" cy="92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Consider a give UI for </a:t>
            </a:r>
            <a:r>
              <a:rPr lang="en-US" sz="1799" b="1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grade checking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You are required to write a code for check grade button. On </a:t>
            </a:r>
            <a:r>
              <a:rPr lang="en-US" sz="1799" b="1" i="1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button click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799" b="1" i="1" kern="5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calculte</a:t>
            </a:r>
            <a:r>
              <a:rPr lang="en-US" sz="1799" b="1" i="1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and display respective grade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on </a:t>
            </a:r>
            <a:r>
              <a:rPr lang="en-US" sz="1799" b="1" i="1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label as shown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 </a:t>
            </a:r>
            <a:r>
              <a:rPr lang="en-US" sz="1799" b="1" i="1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UI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Grade is </a:t>
            </a:r>
            <a:r>
              <a:rPr lang="en-US" sz="1799" kern="5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depenedent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on </a:t>
            </a:r>
            <a:r>
              <a:rPr lang="en-US" sz="1799" b="1" i="1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credit hour and marks </a:t>
            </a:r>
            <a:r>
              <a:rPr lang="en-US" sz="1799" b="1" i="1" kern="5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obtianed</a:t>
            </a:r>
            <a:r>
              <a:rPr lang="en-US" sz="1799" kern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Criteria is given below</a:t>
            </a:r>
            <a:endParaRPr lang="en-US" sz="1799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29542"/>
              </p:ext>
            </p:extLst>
          </p:nvPr>
        </p:nvGraphicFramePr>
        <p:xfrm>
          <a:off x="2379717" y="1799403"/>
          <a:ext cx="5321989" cy="1773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9778">
                  <a:extLst>
                    <a:ext uri="{9D8B030D-6E8A-4147-A177-3AD203B41FA5}">
                      <a16:colId xmlns:a16="http://schemas.microsoft.com/office/drawing/2014/main" val="3515961600"/>
                    </a:ext>
                  </a:extLst>
                </a:gridCol>
                <a:gridCol w="2149565">
                  <a:extLst>
                    <a:ext uri="{9D8B030D-6E8A-4147-A177-3AD203B41FA5}">
                      <a16:colId xmlns:a16="http://schemas.microsoft.com/office/drawing/2014/main" val="1476054693"/>
                    </a:ext>
                  </a:extLst>
                </a:gridCol>
                <a:gridCol w="1962646">
                  <a:extLst>
                    <a:ext uri="{9D8B030D-6E8A-4147-A177-3AD203B41FA5}">
                      <a16:colId xmlns:a16="http://schemas.microsoft.com/office/drawing/2014/main" val="3849755346"/>
                    </a:ext>
                  </a:extLst>
                </a:gridCol>
              </a:tblGrid>
              <a:tr h="2955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Grade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3 CH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4CH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4129613"/>
                  </a:ext>
                </a:extLst>
              </a:tr>
              <a:tr h="2955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Marks &gt; 47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Marks &gt; 63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1619997"/>
                  </a:ext>
                </a:extLst>
              </a:tr>
              <a:tr h="2955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B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38 &lt; Marks &lt; 48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51 &lt; Marks &lt; 64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556660"/>
                  </a:ext>
                </a:extLst>
              </a:tr>
              <a:tr h="2955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29 &lt; Marks &lt;39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39 &lt; Marks &lt; 52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8445714"/>
                  </a:ext>
                </a:extLst>
              </a:tr>
              <a:tr h="2955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23 &lt; Marks &gt; 30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31 &lt; Marks &lt; 40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2738790"/>
                  </a:ext>
                </a:extLst>
              </a:tr>
              <a:tr h="2955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Marks &lt; 24</a:t>
                      </a:r>
                      <a:endParaRPr lang="en-US" sz="1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Marks &lt; 32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64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14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DropdownButton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8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DropdownButton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4875" y="907584"/>
            <a:ext cx="6096001" cy="175355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DropdownButton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3566" y="1323082"/>
            <a:ext cx="6096001" cy="9229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items:  </a:t>
            </a:r>
          </a:p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799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</a:p>
        </p:txBody>
      </p:sp>
      <p:cxnSp>
        <p:nvCxnSpPr>
          <p:cNvPr id="8" name="Straight Arrow Connector 7"/>
          <p:cNvCxnSpPr>
            <a:endCxn id="11" idx="1"/>
          </p:cNvCxnSpPr>
          <p:nvPr/>
        </p:nvCxnSpPr>
        <p:spPr>
          <a:xfrm flipV="1">
            <a:off x="1662546" y="1115270"/>
            <a:ext cx="1406624" cy="38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069170" y="930668"/>
            <a:ext cx="3477234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002060"/>
                </a:solidFill>
                <a:latin typeface="Consolas" panose="020B0609020204030204" pitchFamily="49" charset="0"/>
              </a:rPr>
              <a:t>List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1799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DropdownMenuItem</a:t>
            </a:r>
            <a:r>
              <a:rPr lang="en-US" sz="1799" b="1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1799" b="1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endParaRPr lang="en-US" sz="1799" b="1" dirty="0"/>
          </a:p>
        </p:txBody>
      </p:sp>
      <p:sp>
        <p:nvSpPr>
          <p:cNvPr id="12" name="Rectangle 11"/>
          <p:cNvSpPr/>
          <p:nvPr/>
        </p:nvSpPr>
        <p:spPr>
          <a:xfrm>
            <a:off x="3195786" y="1877079"/>
            <a:ext cx="3097323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 Function(dynamic)?</a:t>
            </a:r>
            <a:endParaRPr lang="en-US" sz="1799" b="1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190498" y="2087419"/>
            <a:ext cx="1005288" cy="170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0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DropdownButton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4875" y="907583"/>
            <a:ext cx="6096001" cy="2030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DropdownButton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3566" y="1323082"/>
            <a:ext cx="6096001" cy="9229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items:  </a:t>
            </a:r>
          </a:p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799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655783" y="1323083"/>
            <a:ext cx="1625600" cy="41335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0" name="Rectangle 9"/>
          <p:cNvSpPr/>
          <p:nvPr/>
        </p:nvSpPr>
        <p:spPr>
          <a:xfrm>
            <a:off x="3422332" y="737817"/>
            <a:ext cx="3477234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002060"/>
                </a:solidFill>
                <a:latin typeface="Consolas" panose="020B0609020204030204" pitchFamily="49" charset="0"/>
              </a:rPr>
              <a:t>List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1799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DropdownMenuItem</a:t>
            </a:r>
            <a:r>
              <a:rPr lang="en-US" sz="1799" b="1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1799" b="1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endParaRPr lang="en-US" sz="1799" b="1" dirty="0"/>
          </a:p>
        </p:txBody>
      </p:sp>
      <p:sp>
        <p:nvSpPr>
          <p:cNvPr id="3" name="Rectangle 2"/>
          <p:cNvSpPr/>
          <p:nvPr/>
        </p:nvSpPr>
        <p:spPr>
          <a:xfrm>
            <a:off x="332512" y="3089397"/>
            <a:ext cx="7038109" cy="258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b="1" dirty="0">
                <a:solidFill>
                  <a:srgbClr val="0070C0"/>
                </a:solidFill>
                <a:latin typeface="Consolas" panose="020B0609020204030204" pitchFamily="49" charset="0"/>
              </a:rPr>
              <a:t>List&lt;</a:t>
            </a:r>
            <a:r>
              <a:rPr lang="en-US" sz="1799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DropdownMenuItem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&lt;String&gt;</a:t>
            </a:r>
            <a:r>
              <a:rPr lang="en-US" sz="1799" b="1" dirty="0">
                <a:solidFill>
                  <a:srgbClr val="0070C0"/>
                </a:solidFill>
                <a:latin typeface="Consolas" panose="020B0609020204030204" pitchFamily="49" charset="0"/>
              </a:rPr>
              <a:t>&gt; 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getMenuItems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b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endParaRPr lang="en-US" sz="1799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/>
              <a:t> </a:t>
            </a:r>
            <a:endParaRPr lang="en-US" sz="1799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1492" y="3852107"/>
            <a:ext cx="6096001" cy="3692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 err="1">
                <a:solidFill>
                  <a:srgbClr val="0070C0"/>
                </a:solidFill>
              </a:rPr>
              <a:t>DropdownMenuItem</a:t>
            </a:r>
            <a:r>
              <a:rPr lang="en-US" sz="1799" dirty="0">
                <a:solidFill>
                  <a:srgbClr val="0070C0"/>
                </a:solidFill>
              </a:rPr>
              <a:t>(</a:t>
            </a:r>
            <a:r>
              <a:rPr lang="en-US" sz="1799" b="1" dirty="0">
                <a:solidFill>
                  <a:srgbClr val="FF0000"/>
                </a:solidFill>
              </a:rPr>
              <a:t>value: "Item 1"</a:t>
            </a:r>
            <a:r>
              <a:rPr lang="en-US" sz="1799" dirty="0">
                <a:solidFill>
                  <a:srgbClr val="0070C0"/>
                </a:solidFill>
              </a:rPr>
              <a:t>, </a:t>
            </a:r>
            <a:r>
              <a:rPr lang="en-US" sz="1799" b="1" dirty="0">
                <a:solidFill>
                  <a:schemeClr val="accent2"/>
                </a:solidFill>
              </a:rPr>
              <a:t>child: Text("Item 1")</a:t>
            </a:r>
            <a:r>
              <a:rPr lang="en-US" sz="1799" dirty="0">
                <a:solidFill>
                  <a:srgbClr val="0070C0"/>
                </a:solidFill>
              </a:rPr>
              <a:t>),</a:t>
            </a:r>
          </a:p>
        </p:txBody>
      </p:sp>
      <p:sp>
        <p:nvSpPr>
          <p:cNvPr id="7" name="Rectangle 6"/>
          <p:cNvSpPr/>
          <p:nvPr/>
        </p:nvSpPr>
        <p:spPr>
          <a:xfrm>
            <a:off x="803566" y="3515172"/>
            <a:ext cx="6096001" cy="14766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/>
              <a:t> </a:t>
            </a:r>
            <a:r>
              <a:rPr lang="en-US" sz="1799" dirty="0">
                <a:solidFill>
                  <a:srgbClr val="FF0000"/>
                </a:solidFill>
              </a:rPr>
              <a:t>List&lt;</a:t>
            </a:r>
            <a:r>
              <a:rPr lang="en-US" sz="1799" b="1" dirty="0" err="1"/>
              <a:t>DropdownMenuItem</a:t>
            </a:r>
            <a:r>
              <a:rPr lang="en-US" sz="1799" b="1" dirty="0"/>
              <a:t>&lt;String&gt;</a:t>
            </a:r>
            <a:r>
              <a:rPr lang="en-US" sz="1799" dirty="0">
                <a:solidFill>
                  <a:srgbClr val="FF0000"/>
                </a:solidFill>
              </a:rPr>
              <a:t>&gt;</a:t>
            </a:r>
            <a:r>
              <a:rPr lang="en-US" sz="1799" dirty="0"/>
              <a:t> </a:t>
            </a:r>
            <a:r>
              <a:rPr lang="en-US" sz="1799" dirty="0" err="1"/>
              <a:t>menuItems</a:t>
            </a:r>
            <a:r>
              <a:rPr lang="en-US" sz="1799" dirty="0"/>
              <a:t> = [</a:t>
            </a:r>
          </a:p>
          <a:p>
            <a:r>
              <a:rPr lang="en-US" sz="1799" dirty="0">
                <a:solidFill>
                  <a:srgbClr val="0070C0"/>
                </a:solidFill>
              </a:rPr>
              <a:t>              </a:t>
            </a:r>
            <a:endParaRPr lang="en-US" sz="1799" dirty="0"/>
          </a:p>
          <a:p>
            <a:r>
              <a:rPr lang="en-US" sz="1799" dirty="0"/>
              <a:t>   </a:t>
            </a:r>
          </a:p>
          <a:p>
            <a:r>
              <a:rPr lang="en-US" sz="1799" dirty="0"/>
              <a:t>  </a:t>
            </a:r>
          </a:p>
          <a:p>
            <a:r>
              <a:rPr lang="en-US" sz="1799" dirty="0"/>
              <a:t>];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1492" y="4346302"/>
            <a:ext cx="6096001" cy="3692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 err="1">
                <a:solidFill>
                  <a:srgbClr val="0070C0"/>
                </a:solidFill>
              </a:rPr>
              <a:t>DropdownMenuItem</a:t>
            </a:r>
            <a:r>
              <a:rPr lang="en-US" sz="1799" dirty="0">
                <a:solidFill>
                  <a:srgbClr val="0070C0"/>
                </a:solidFill>
              </a:rPr>
              <a:t>(</a:t>
            </a:r>
            <a:r>
              <a:rPr lang="en-US" sz="1799" b="1" dirty="0">
                <a:solidFill>
                  <a:srgbClr val="FF0000"/>
                </a:solidFill>
              </a:rPr>
              <a:t>value: "Item 2"</a:t>
            </a:r>
            <a:r>
              <a:rPr lang="en-US" sz="1799" dirty="0">
                <a:solidFill>
                  <a:srgbClr val="0070C0"/>
                </a:solidFill>
              </a:rPr>
              <a:t>, </a:t>
            </a:r>
            <a:r>
              <a:rPr lang="en-US" sz="1799" b="1" dirty="0">
                <a:solidFill>
                  <a:schemeClr val="accent2"/>
                </a:solidFill>
              </a:rPr>
              <a:t>child: Text("Item 2")</a:t>
            </a:r>
            <a:r>
              <a:rPr lang="en-US" sz="1799" dirty="0">
                <a:solidFill>
                  <a:srgbClr val="0070C0"/>
                </a:solidFill>
              </a:rPr>
              <a:t>),</a:t>
            </a:r>
          </a:p>
        </p:txBody>
      </p:sp>
      <p:sp>
        <p:nvSpPr>
          <p:cNvPr id="9" name="Rectangle 8"/>
          <p:cNvSpPr/>
          <p:nvPr/>
        </p:nvSpPr>
        <p:spPr>
          <a:xfrm>
            <a:off x="661900" y="4984147"/>
            <a:ext cx="2038763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chemeClr val="accent5"/>
                </a:solidFill>
              </a:rPr>
              <a:t> return </a:t>
            </a:r>
            <a:r>
              <a:rPr lang="en-US" sz="1799" b="1" dirty="0" err="1"/>
              <a:t>menuItems</a:t>
            </a:r>
            <a:r>
              <a:rPr lang="en-US" sz="1799" b="1" dirty="0"/>
              <a:t>;</a:t>
            </a:r>
            <a:endParaRPr lang="en-US" sz="1799" dirty="0"/>
          </a:p>
        </p:txBody>
      </p:sp>
      <p:sp>
        <p:nvSpPr>
          <p:cNvPr id="13" name="Rectangle 12"/>
          <p:cNvSpPr/>
          <p:nvPr/>
        </p:nvSpPr>
        <p:spPr>
          <a:xfrm>
            <a:off x="1681284" y="1311268"/>
            <a:ext cx="1957587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getMenuItems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2247" y="1853995"/>
            <a:ext cx="3097323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616161"/>
                </a:solidFill>
                <a:latin typeface="Consolas" panose="020B0609020204030204" pitchFamily="49" charset="0"/>
              </a:rPr>
              <a:t>void Function(String?)?</a:t>
            </a:r>
            <a:endParaRPr lang="en-US" sz="1799" b="1" dirty="0"/>
          </a:p>
        </p:txBody>
      </p:sp>
      <p:sp>
        <p:nvSpPr>
          <p:cNvPr id="17" name="Rectangle 16"/>
          <p:cNvSpPr/>
          <p:nvPr/>
        </p:nvSpPr>
        <p:spPr>
          <a:xfrm>
            <a:off x="655783" y="1784747"/>
            <a:ext cx="1625600" cy="4847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8" name="Rectangle 17"/>
          <p:cNvSpPr/>
          <p:nvPr/>
        </p:nvSpPr>
        <p:spPr>
          <a:xfrm>
            <a:off x="2019902" y="1857805"/>
            <a:ext cx="3491607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? value){    }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8003362" y="1599755"/>
            <a:ext cx="1913641" cy="332744"/>
            <a:chOff x="8003357" y="1599751"/>
            <a:chExt cx="1913641" cy="332743"/>
          </a:xfrm>
        </p:grpSpPr>
        <p:sp>
          <p:nvSpPr>
            <p:cNvPr id="19" name="Rectangle 18"/>
            <p:cNvSpPr/>
            <p:nvPr/>
          </p:nvSpPr>
          <p:spPr>
            <a:xfrm>
              <a:off x="8003357" y="1599751"/>
              <a:ext cx="1913641" cy="3327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20" name="Isosceles Triangle 19"/>
            <p:cNvSpPr/>
            <p:nvPr/>
          </p:nvSpPr>
          <p:spPr>
            <a:xfrm rot="10800000">
              <a:off x="9558780" y="1639001"/>
              <a:ext cx="282804" cy="25424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003362" y="1971747"/>
            <a:ext cx="1913641" cy="646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799" dirty="0"/>
              <a:t>Item 1</a:t>
            </a:r>
          </a:p>
          <a:p>
            <a:r>
              <a:rPr lang="en-US" sz="1799" dirty="0"/>
              <a:t>Item 2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8653810" y="2507531"/>
            <a:ext cx="306371" cy="980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14115" y="3672871"/>
            <a:ext cx="4523914" cy="6460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799" b="1" dirty="0">
                <a:solidFill>
                  <a:srgbClr val="FF0000"/>
                </a:solidFill>
              </a:rPr>
              <a:t>Assume that you have selected Item 2, It wont be visible in dropdown as selected item.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3567" y="2302852"/>
            <a:ext cx="944489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value: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58334" y="788570"/>
            <a:ext cx="3097323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String ?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selectedValue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6768" y="2302852"/>
            <a:ext cx="1830950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selectedValue</a:t>
            </a:r>
            <a:endParaRPr lang="en-US" sz="1799" dirty="0"/>
          </a:p>
        </p:txBody>
      </p:sp>
      <p:sp>
        <p:nvSpPr>
          <p:cNvPr id="27" name="Rectangle 26"/>
          <p:cNvSpPr/>
          <p:nvPr/>
        </p:nvSpPr>
        <p:spPr>
          <a:xfrm>
            <a:off x="2047096" y="1861481"/>
            <a:ext cx="5178553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? value){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selectedValue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=value  }</a:t>
            </a:r>
          </a:p>
        </p:txBody>
      </p:sp>
    </p:spTree>
    <p:extLst>
      <p:ext uri="{BB962C8B-B14F-4D97-AF65-F5344CB8AC3E}">
        <p14:creationId xmlns:p14="http://schemas.microsoft.com/office/powerpoint/2010/main" val="308597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0" grpId="0"/>
      <p:bldP spid="3" grpId="0"/>
      <p:bldP spid="6" grpId="0"/>
      <p:bldP spid="7" grpId="0"/>
      <p:bldP spid="15" grpId="0"/>
      <p:bldP spid="9" grpId="0"/>
      <p:bldP spid="13" grpId="0"/>
      <p:bldP spid="16" grpId="0"/>
      <p:bldP spid="16" grpId="1"/>
      <p:bldP spid="17" grpId="0" animBg="1"/>
      <p:bldP spid="17" grpId="1" animBg="1"/>
      <p:bldP spid="18" grpId="0"/>
      <p:bldP spid="18" grpId="1"/>
      <p:bldP spid="23" grpId="0" animBg="1"/>
      <p:bldP spid="31" grpId="0" animBg="1"/>
      <p:bldP spid="8" grpId="0"/>
      <p:bldP spid="11" grpId="0"/>
      <p:bldP spid="12" grpId="0"/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DropdownButton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4331" y="1529759"/>
            <a:ext cx="6096001" cy="42453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 err="1">
                <a:solidFill>
                  <a:srgbClr val="000000"/>
                </a:solidFill>
                <a:latin typeface="Consolas" panose="020B0609020204030204" pitchFamily="49" charset="0"/>
              </a:rPr>
              <a:t>DropdownButton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782" y="2254817"/>
            <a:ext cx="6096001" cy="25841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items:  </a:t>
            </a:r>
          </a:p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    </a:t>
            </a:r>
          </a:p>
          <a:p>
            <a:endParaRPr lang="en-US" sz="1799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1799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799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onChanged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940" y="4809360"/>
            <a:ext cx="944489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value: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010" y="948550"/>
            <a:ext cx="3097323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 String ?</a:t>
            </a:r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selectedValue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382" y="4809360"/>
            <a:ext cx="1830950" cy="369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99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selectedValue</a:t>
            </a:r>
            <a:endParaRPr lang="en-US" sz="1799" dirty="0"/>
          </a:p>
        </p:txBody>
      </p:sp>
      <p:sp>
        <p:nvSpPr>
          <p:cNvPr id="26" name="Rectangle 25"/>
          <p:cNvSpPr/>
          <p:nvPr/>
        </p:nvSpPr>
        <p:spPr>
          <a:xfrm>
            <a:off x="1945495" y="4440028"/>
            <a:ext cx="6247164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? value){ </a:t>
            </a:r>
            <a:r>
              <a:rPr lang="en-US" sz="1799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selectedValue</a:t>
            </a:r>
            <a:r>
              <a:rPr lang="en-US" sz="1799" b="1" dirty="0">
                <a:solidFill>
                  <a:srgbClr val="FF0000"/>
                </a:solidFill>
                <a:latin typeface="Consolas" panose="020B0609020204030204" pitchFamily="49" charset="0"/>
              </a:rPr>
              <a:t>=value;</a:t>
            </a:r>
            <a:r>
              <a:rPr lang="en-US" sz="1799" b="1" dirty="0">
                <a:solidFill>
                  <a:srgbClr val="000000"/>
                </a:solidFill>
                <a:latin typeface="Consolas" panose="020B0609020204030204" pitchFamily="49" charset="0"/>
              </a:rPr>
              <a:t>  },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9277" y="869822"/>
            <a:ext cx="80725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List&lt;String&gt; items = [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"Item 1"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"Item 2"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"Item 3"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37067" y="2133086"/>
            <a:ext cx="6096001" cy="221509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399" dirty="0" err="1">
                <a:solidFill>
                  <a:srgbClr val="000000"/>
                </a:solidFill>
                <a:latin typeface="Consolas" panose="020B0609020204030204" pitchFamily="49" charset="0"/>
              </a:rPr>
              <a:t>items.</a:t>
            </a:r>
            <a:r>
              <a:rPr lang="en-US" sz="2399" dirty="0" err="1">
                <a:solidFill>
                  <a:srgbClr val="FF0000"/>
                </a:solidFill>
                <a:latin typeface="Consolas" panose="020B0609020204030204" pitchFamily="49" charset="0"/>
              </a:rPr>
              <a:t>map</a:t>
            </a:r>
            <a:r>
              <a:rPr lang="en-US" sz="2399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1799" dirty="0">
                <a:solidFill>
                  <a:srgbClr val="002060"/>
                </a:solidFill>
                <a:latin typeface="Consolas" panose="020B0609020204030204" pitchFamily="49" charset="0"/>
              </a:rPr>
              <a:t>(String item) 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799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r>
              <a:rPr lang="en-US" sz="2399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799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toList</a:t>
            </a:r>
            <a:r>
              <a:rPr lang="en-US" sz="1799" b="1" dirty="0">
                <a:solidFill>
                  <a:srgbClr val="C00000"/>
                </a:solidFill>
                <a:latin typeface="Consolas" panose="020B0609020204030204" pitchFamily="49" charset="0"/>
              </a:rPr>
              <a:t>(),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5491" y="2641318"/>
            <a:ext cx="6096001" cy="11998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99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99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DropdownMenuItem</a:t>
            </a:r>
            <a:r>
              <a:rPr lang="en-US" sz="1799" b="1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value: item,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799" dirty="0">
                <a:solidFill>
                  <a:srgbClr val="FF0000"/>
                </a:solidFill>
                <a:latin typeface="Consolas" panose="020B0609020204030204" pitchFamily="49" charset="0"/>
              </a:rPr>
              <a:t>child: Text(item),</a:t>
            </a:r>
          </a:p>
          <a:p>
            <a:r>
              <a:rPr lang="en-US" sz="1799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799" dirty="0">
                <a:solidFill>
                  <a:srgbClr val="00B05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3835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7056" y="1487055"/>
            <a:ext cx="2937163" cy="4645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7" name="Rectangle 6"/>
          <p:cNvSpPr/>
          <p:nvPr/>
        </p:nvSpPr>
        <p:spPr>
          <a:xfrm>
            <a:off x="1487056" y="1487057"/>
            <a:ext cx="2937163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99" dirty="0"/>
              <a:t>Color Selection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1487056" y="2121258"/>
            <a:ext cx="141316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Select Color: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6370" y="2490591"/>
            <a:ext cx="2623127" cy="4373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3943926" y="2590688"/>
            <a:ext cx="184728" cy="237142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0" name="TextBox 19"/>
          <p:cNvSpPr txBox="1"/>
          <p:nvPr/>
        </p:nvSpPr>
        <p:spPr>
          <a:xfrm flipH="1">
            <a:off x="1625604" y="2532051"/>
            <a:ext cx="141316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White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239492" y="270925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44658" y="2305924"/>
            <a:ext cx="1265385" cy="1753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799" dirty="0"/>
              <a:t>White</a:t>
            </a:r>
          </a:p>
          <a:p>
            <a:r>
              <a:rPr lang="en-US" sz="1799" dirty="0"/>
              <a:t>Orange</a:t>
            </a:r>
          </a:p>
          <a:p>
            <a:r>
              <a:rPr lang="en-US" sz="1799" dirty="0"/>
              <a:t>Yellow</a:t>
            </a:r>
          </a:p>
          <a:p>
            <a:r>
              <a:rPr lang="en-US" sz="1799" dirty="0"/>
              <a:t>Red </a:t>
            </a:r>
          </a:p>
          <a:p>
            <a:r>
              <a:rPr lang="en-US" sz="1799" dirty="0"/>
              <a:t>Purple</a:t>
            </a:r>
          </a:p>
          <a:p>
            <a:r>
              <a:rPr lang="en-US" sz="1799" dirty="0"/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282540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DropdownButton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221" y="763330"/>
            <a:ext cx="3549880" cy="12779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216623" y="763328"/>
            <a:ext cx="3133037" cy="56323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DropdownButton2&lt;String&gt;(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933" y="1230993"/>
            <a:ext cx="7489371" cy="2030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b="1" dirty="0">
                <a:solidFill>
                  <a:srgbClr val="002060"/>
                </a:solidFill>
              </a:rPr>
              <a:t>hint: Row(</a:t>
            </a:r>
          </a:p>
          <a:p>
            <a:r>
              <a:rPr lang="en-US" sz="1799" b="1" dirty="0">
                <a:solidFill>
                  <a:srgbClr val="002060"/>
                </a:solidFill>
              </a:rPr>
              <a:t>              children: [</a:t>
            </a:r>
          </a:p>
          <a:p>
            <a:r>
              <a:rPr lang="en-US" sz="1799" b="1" dirty="0">
                <a:solidFill>
                  <a:srgbClr val="002060"/>
                </a:solidFill>
              </a:rPr>
              <a:t>                Icon(</a:t>
            </a:r>
            <a:r>
              <a:rPr lang="en-US" sz="1799" b="1" dirty="0" err="1">
                <a:solidFill>
                  <a:srgbClr val="002060"/>
                </a:solidFill>
              </a:rPr>
              <a:t>Icons.list</a:t>
            </a:r>
            <a:r>
              <a:rPr lang="en-US" sz="1799" b="1" dirty="0">
                <a:solidFill>
                  <a:srgbClr val="002060"/>
                </a:solidFill>
              </a:rPr>
              <a:t>, size: 20, color: </a:t>
            </a:r>
            <a:r>
              <a:rPr lang="en-US" sz="1799" b="1" dirty="0" err="1">
                <a:solidFill>
                  <a:srgbClr val="002060"/>
                </a:solidFill>
              </a:rPr>
              <a:t>Colors.grey</a:t>
            </a:r>
            <a:r>
              <a:rPr lang="en-US" sz="1799" b="1" dirty="0">
                <a:solidFill>
                  <a:srgbClr val="002060"/>
                </a:solidFill>
              </a:rPr>
              <a:t>),</a:t>
            </a:r>
          </a:p>
          <a:p>
            <a:r>
              <a:rPr lang="en-US" sz="1799" b="1" dirty="0">
                <a:solidFill>
                  <a:srgbClr val="002060"/>
                </a:solidFill>
              </a:rPr>
              <a:t>                </a:t>
            </a:r>
            <a:r>
              <a:rPr lang="en-US" sz="1799" b="1" dirty="0" err="1">
                <a:solidFill>
                  <a:srgbClr val="002060"/>
                </a:solidFill>
              </a:rPr>
              <a:t>SizedBox</a:t>
            </a:r>
            <a:r>
              <a:rPr lang="en-US" sz="1799" b="1" dirty="0">
                <a:solidFill>
                  <a:srgbClr val="002060"/>
                </a:solidFill>
              </a:rPr>
              <a:t>(width: 8),</a:t>
            </a:r>
          </a:p>
          <a:p>
            <a:r>
              <a:rPr lang="en-US" sz="1799" b="1" dirty="0">
                <a:solidFill>
                  <a:srgbClr val="002060"/>
                </a:solidFill>
              </a:rPr>
              <a:t>                Text('Select Fruit', style: </a:t>
            </a:r>
            <a:r>
              <a:rPr lang="en-US" sz="1799" b="1" dirty="0" err="1">
                <a:solidFill>
                  <a:srgbClr val="002060"/>
                </a:solidFill>
              </a:rPr>
              <a:t>TextStyle</a:t>
            </a:r>
            <a:r>
              <a:rPr lang="en-US" sz="1799" b="1" dirty="0">
                <a:solidFill>
                  <a:srgbClr val="002060"/>
                </a:solidFill>
              </a:rPr>
              <a:t>(</a:t>
            </a:r>
            <a:r>
              <a:rPr lang="en-US" sz="1799" b="1" dirty="0" err="1">
                <a:solidFill>
                  <a:srgbClr val="002060"/>
                </a:solidFill>
              </a:rPr>
              <a:t>fontSize</a:t>
            </a:r>
            <a:r>
              <a:rPr lang="en-US" sz="1799" b="1" dirty="0">
                <a:solidFill>
                  <a:srgbClr val="002060"/>
                </a:solidFill>
              </a:rPr>
              <a:t>: 16, color: </a:t>
            </a:r>
            <a:r>
              <a:rPr lang="en-US" sz="1799" b="1" dirty="0" err="1">
                <a:solidFill>
                  <a:srgbClr val="002060"/>
                </a:solidFill>
              </a:rPr>
              <a:t>Colors.grey</a:t>
            </a:r>
            <a:r>
              <a:rPr lang="en-US" sz="1799" b="1" dirty="0">
                <a:solidFill>
                  <a:srgbClr val="002060"/>
                </a:solidFill>
              </a:rPr>
              <a:t>),  ),</a:t>
            </a:r>
          </a:p>
          <a:p>
            <a:r>
              <a:rPr lang="en-US" sz="1799" b="1" dirty="0">
                <a:solidFill>
                  <a:srgbClr val="002060"/>
                </a:solidFill>
              </a:rPr>
              <a:t>             ],</a:t>
            </a:r>
          </a:p>
          <a:p>
            <a:r>
              <a:rPr lang="en-US" sz="1799" b="1" dirty="0">
                <a:solidFill>
                  <a:srgbClr val="002060"/>
                </a:solidFill>
              </a:rPr>
              <a:t>            ),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933" y="3261421"/>
            <a:ext cx="7524205" cy="258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b="1" dirty="0" err="1">
                <a:solidFill>
                  <a:schemeClr val="accent2"/>
                </a:solidFill>
              </a:rPr>
              <a:t>buttonStyleData</a:t>
            </a:r>
            <a:r>
              <a:rPr lang="en-US" sz="1799" b="1" dirty="0">
                <a:solidFill>
                  <a:schemeClr val="accent2"/>
                </a:solidFill>
              </a:rPr>
              <a:t>: </a:t>
            </a:r>
            <a:r>
              <a:rPr lang="en-US" sz="1799" b="1" dirty="0" err="1">
                <a:solidFill>
                  <a:schemeClr val="accent2"/>
                </a:solidFill>
              </a:rPr>
              <a:t>ButtonStyleData</a:t>
            </a:r>
            <a:r>
              <a:rPr lang="en-US" sz="1799" b="1" dirty="0">
                <a:solidFill>
                  <a:schemeClr val="accent2"/>
                </a:solidFill>
              </a:rPr>
              <a:t>(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height: 50, width: 200,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padding: </a:t>
            </a:r>
            <a:r>
              <a:rPr lang="en-US" sz="1799" b="1" dirty="0" err="1">
                <a:solidFill>
                  <a:schemeClr val="accent2"/>
                </a:solidFill>
              </a:rPr>
              <a:t>EdgeInsets.symmetric</a:t>
            </a:r>
            <a:r>
              <a:rPr lang="en-US" sz="1799" b="1" dirty="0">
                <a:solidFill>
                  <a:schemeClr val="accent2"/>
                </a:solidFill>
              </a:rPr>
              <a:t>(horizontal: 14),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decoration: </a:t>
            </a:r>
            <a:r>
              <a:rPr lang="en-US" sz="1799" b="1" dirty="0" err="1">
                <a:solidFill>
                  <a:schemeClr val="accent2"/>
                </a:solidFill>
              </a:rPr>
              <a:t>BoxDecoration</a:t>
            </a:r>
            <a:r>
              <a:rPr lang="en-US" sz="1799" b="1" dirty="0">
                <a:solidFill>
                  <a:schemeClr val="accent2"/>
                </a:solidFill>
              </a:rPr>
              <a:t>(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  </a:t>
            </a:r>
            <a:r>
              <a:rPr lang="en-US" sz="1799" b="1" dirty="0" err="1">
                <a:solidFill>
                  <a:schemeClr val="accent2"/>
                </a:solidFill>
              </a:rPr>
              <a:t>borderRadius</a:t>
            </a:r>
            <a:r>
              <a:rPr lang="en-US" sz="1799" b="1" dirty="0">
                <a:solidFill>
                  <a:schemeClr val="accent2"/>
                </a:solidFill>
              </a:rPr>
              <a:t>: </a:t>
            </a:r>
            <a:r>
              <a:rPr lang="en-US" sz="1799" b="1" dirty="0" err="1">
                <a:solidFill>
                  <a:schemeClr val="accent2"/>
                </a:solidFill>
              </a:rPr>
              <a:t>BorderRadius.circular</a:t>
            </a:r>
            <a:r>
              <a:rPr lang="en-US" sz="1799" b="1" dirty="0">
                <a:solidFill>
                  <a:schemeClr val="accent2"/>
                </a:solidFill>
              </a:rPr>
              <a:t>(14),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  border: </a:t>
            </a:r>
            <a:r>
              <a:rPr lang="en-US" sz="1799" b="1" dirty="0" err="1">
                <a:solidFill>
                  <a:schemeClr val="accent2"/>
                </a:solidFill>
              </a:rPr>
              <a:t>Border.all</a:t>
            </a:r>
            <a:r>
              <a:rPr lang="en-US" sz="1799" b="1" dirty="0">
                <a:solidFill>
                  <a:schemeClr val="accent2"/>
                </a:solidFill>
              </a:rPr>
              <a:t>(color: </a:t>
            </a:r>
            <a:r>
              <a:rPr lang="en-US" sz="1799" b="1" dirty="0" err="1">
                <a:solidFill>
                  <a:schemeClr val="accent2"/>
                </a:solidFill>
              </a:rPr>
              <a:t>Colors.deepPurple</a:t>
            </a:r>
            <a:r>
              <a:rPr lang="en-US" sz="1799" b="1" dirty="0">
                <a:solidFill>
                  <a:schemeClr val="accent2"/>
                </a:solidFill>
              </a:rPr>
              <a:t>),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  color: Colors.deepPurple.shade50, ),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  elevation: 2,</a:t>
            </a:r>
          </a:p>
          <a:p>
            <a:r>
              <a:rPr lang="en-US" sz="1799" b="1" dirty="0">
                <a:solidFill>
                  <a:schemeClr val="accent2"/>
                </a:solidFill>
              </a:rPr>
              <a:t>            ),</a:t>
            </a:r>
          </a:p>
        </p:txBody>
      </p:sp>
    </p:spTree>
    <p:extLst>
      <p:ext uri="{BB962C8B-B14F-4D97-AF65-F5344CB8AC3E}">
        <p14:creationId xmlns:p14="http://schemas.microsoft.com/office/powerpoint/2010/main" val="280370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DropdownButton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6623" y="763328"/>
            <a:ext cx="3133037" cy="59400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DropdownButton2&lt;String&gt;(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r>
              <a:rPr lang="en-US" sz="2000" b="1" dirty="0" smtClean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4467" y="1228114"/>
            <a:ext cx="72716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iconStyleData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 err="1">
                <a:solidFill>
                  <a:schemeClr val="accent2"/>
                </a:solidFill>
              </a:rPr>
              <a:t>IconStyleData</a:t>
            </a:r>
            <a:r>
              <a:rPr lang="en-US" dirty="0">
                <a:solidFill>
                  <a:schemeClr val="accent2"/>
                </a:solidFill>
              </a:rPr>
              <a:t>(</a:t>
            </a:r>
          </a:p>
          <a:p>
            <a:r>
              <a:rPr lang="en-US" dirty="0">
                <a:solidFill>
                  <a:schemeClr val="accent2"/>
                </a:solidFill>
              </a:rPr>
              <a:t>              icon: Icon(</a:t>
            </a:r>
            <a:r>
              <a:rPr lang="en-US" dirty="0" err="1">
                <a:solidFill>
                  <a:schemeClr val="accent2"/>
                </a:solidFill>
              </a:rPr>
              <a:t>Icons.arrow_drop_down</a:t>
            </a:r>
            <a:r>
              <a:rPr lang="en-US" dirty="0">
                <a:solidFill>
                  <a:schemeClr val="accent2"/>
                </a:solidFill>
              </a:rPr>
              <a:t>, color: </a:t>
            </a:r>
            <a:r>
              <a:rPr lang="en-US" dirty="0" err="1">
                <a:solidFill>
                  <a:schemeClr val="accent2"/>
                </a:solidFill>
              </a:rPr>
              <a:t>Colors.deepPurple</a:t>
            </a:r>
            <a:r>
              <a:rPr lang="en-US" dirty="0">
                <a:solidFill>
                  <a:schemeClr val="accent2"/>
                </a:solidFill>
              </a:rPr>
              <a:t>),</a:t>
            </a:r>
          </a:p>
          <a:p>
            <a:r>
              <a:rPr lang="en-US" dirty="0">
                <a:solidFill>
                  <a:schemeClr val="accent2"/>
                </a:solidFill>
              </a:rPr>
              <a:t>              </a:t>
            </a:r>
            <a:r>
              <a:rPr lang="en-US" dirty="0" err="1">
                <a:solidFill>
                  <a:schemeClr val="accent2"/>
                </a:solidFill>
              </a:rPr>
              <a:t>iconSize</a:t>
            </a:r>
            <a:r>
              <a:rPr lang="en-US" dirty="0">
                <a:solidFill>
                  <a:schemeClr val="accent2"/>
                </a:solidFill>
              </a:rPr>
              <a:t>: 24</a:t>
            </a:r>
            <a:r>
              <a:rPr lang="en-US" dirty="0" smtClean="0">
                <a:solidFill>
                  <a:schemeClr val="accent2"/>
                </a:solidFill>
              </a:rPr>
              <a:t>,   </a:t>
            </a:r>
            <a:r>
              <a:rPr lang="en-US" dirty="0">
                <a:solidFill>
                  <a:schemeClr val="accent2"/>
                </a:solidFill>
              </a:rPr>
              <a:t>),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467" y="2151444"/>
            <a:ext cx="57912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dropdownStyleData</a:t>
            </a:r>
            <a:r>
              <a:rPr lang="en-US" b="1" dirty="0">
                <a:solidFill>
                  <a:srgbClr val="00B050"/>
                </a:solidFill>
              </a:rPr>
              <a:t>: </a:t>
            </a:r>
            <a:r>
              <a:rPr lang="en-US" b="1" dirty="0" err="1">
                <a:solidFill>
                  <a:srgbClr val="00B050"/>
                </a:solidFill>
              </a:rPr>
              <a:t>DropdownStyleData</a:t>
            </a:r>
            <a:r>
              <a:rPr lang="en-US" b="1" dirty="0">
                <a:solidFill>
                  <a:srgbClr val="00B050"/>
                </a:solidFill>
              </a:rPr>
              <a:t>(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</a:t>
            </a:r>
            <a:r>
              <a:rPr lang="en-US" b="1" dirty="0" err="1">
                <a:solidFill>
                  <a:srgbClr val="00B050"/>
                </a:solidFill>
              </a:rPr>
              <a:t>maxHeight</a:t>
            </a:r>
            <a:r>
              <a:rPr lang="en-US" b="1" dirty="0">
                <a:solidFill>
                  <a:srgbClr val="00B050"/>
                </a:solidFill>
              </a:rPr>
              <a:t>: 200,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width: 200,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decoration: </a:t>
            </a:r>
            <a:r>
              <a:rPr lang="en-US" b="1" dirty="0" err="1">
                <a:solidFill>
                  <a:srgbClr val="00B050"/>
                </a:solidFill>
              </a:rPr>
              <a:t>BoxDecoration</a:t>
            </a:r>
            <a:r>
              <a:rPr lang="en-US" b="1" dirty="0">
                <a:solidFill>
                  <a:srgbClr val="00B050"/>
                </a:solidFill>
              </a:rPr>
              <a:t>(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</a:t>
            </a:r>
            <a:r>
              <a:rPr lang="en-US" b="1" dirty="0" err="1">
                <a:solidFill>
                  <a:srgbClr val="00B050"/>
                </a:solidFill>
              </a:rPr>
              <a:t>borderRadius</a:t>
            </a:r>
            <a:r>
              <a:rPr lang="en-US" b="1" dirty="0">
                <a:solidFill>
                  <a:srgbClr val="00B050"/>
                </a:solidFill>
              </a:rPr>
              <a:t>: </a:t>
            </a:r>
            <a:r>
              <a:rPr lang="en-US" b="1" dirty="0" err="1">
                <a:solidFill>
                  <a:srgbClr val="00B050"/>
                </a:solidFill>
              </a:rPr>
              <a:t>BorderRadius.circular</a:t>
            </a:r>
            <a:r>
              <a:rPr lang="en-US" b="1" dirty="0">
                <a:solidFill>
                  <a:srgbClr val="00B050"/>
                </a:solidFill>
              </a:rPr>
              <a:t>(14),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color: </a:t>
            </a:r>
            <a:r>
              <a:rPr lang="en-US" b="1" dirty="0" err="1">
                <a:solidFill>
                  <a:srgbClr val="00B050"/>
                </a:solidFill>
              </a:rPr>
              <a:t>Colors.white</a:t>
            </a:r>
            <a:r>
              <a:rPr lang="en-US" b="1" dirty="0">
                <a:solidFill>
                  <a:srgbClr val="00B050"/>
                </a:solidFill>
              </a:rPr>
              <a:t>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),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elevation: 4,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offset: Offset(0, -5),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),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467" y="5013766"/>
            <a:ext cx="63957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B0F0"/>
                </a:solidFill>
              </a:rPr>
              <a:t>menuItemStyleData</a:t>
            </a:r>
            <a:r>
              <a:rPr lang="en-US" b="1" dirty="0">
                <a:solidFill>
                  <a:srgbClr val="00B0F0"/>
                </a:solidFill>
              </a:rPr>
              <a:t>: </a:t>
            </a:r>
            <a:r>
              <a:rPr lang="en-US" b="1" dirty="0" err="1">
                <a:solidFill>
                  <a:srgbClr val="00B0F0"/>
                </a:solidFill>
              </a:rPr>
              <a:t>MenuItemStyleData</a:t>
            </a:r>
            <a:r>
              <a:rPr lang="en-US" b="1" dirty="0">
                <a:solidFill>
                  <a:srgbClr val="00B0F0"/>
                </a:solidFill>
              </a:rPr>
              <a:t>(</a:t>
            </a:r>
          </a:p>
          <a:p>
            <a:r>
              <a:rPr lang="en-US" b="1" dirty="0">
                <a:solidFill>
                  <a:srgbClr val="00B0F0"/>
                </a:solidFill>
              </a:rPr>
              <a:t>              height: 40,</a:t>
            </a:r>
          </a:p>
          <a:p>
            <a:r>
              <a:rPr lang="en-US" b="1" dirty="0">
                <a:solidFill>
                  <a:srgbClr val="00B0F0"/>
                </a:solidFill>
              </a:rPr>
              <a:t>              padding: </a:t>
            </a:r>
            <a:r>
              <a:rPr lang="en-US" b="1" dirty="0" err="1">
                <a:solidFill>
                  <a:srgbClr val="00B0F0"/>
                </a:solidFill>
              </a:rPr>
              <a:t>EdgeInsets.symmetric</a:t>
            </a:r>
            <a:r>
              <a:rPr lang="en-US" b="1" dirty="0">
                <a:solidFill>
                  <a:srgbClr val="00B0F0"/>
                </a:solidFill>
              </a:rPr>
              <a:t>(horizontal: 14),</a:t>
            </a:r>
          </a:p>
          <a:p>
            <a:r>
              <a:rPr lang="en-US" b="1" dirty="0">
                <a:solidFill>
                  <a:srgbClr val="00B0F0"/>
                </a:solidFill>
              </a:rPr>
              <a:t>            ),</a:t>
            </a:r>
          </a:p>
        </p:txBody>
      </p:sp>
    </p:spTree>
    <p:extLst>
      <p:ext uri="{BB962C8B-B14F-4D97-AF65-F5344CB8AC3E}">
        <p14:creationId xmlns:p14="http://schemas.microsoft.com/office/powerpoint/2010/main" val="355721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389" y="868680"/>
            <a:ext cx="3172691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2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Navigation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3178" y="1245326"/>
            <a:ext cx="2386148" cy="40320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6240" y="1245326"/>
            <a:ext cx="2360023" cy="539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Screen 1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57349" y="2647406"/>
            <a:ext cx="1885405" cy="509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Move to Screen 2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13521" y="1307067"/>
            <a:ext cx="2386148" cy="40320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26583" y="1307067"/>
            <a:ext cx="2360023" cy="539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Screen 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736183" y="2850661"/>
            <a:ext cx="151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Screen 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047365" y="109633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Navigator.push</a:t>
            </a:r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  </a:t>
            </a:r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40183" y="223352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builder: (context){</a:t>
            </a:r>
          </a:p>
          <a:p>
            <a:endParaRPr lang="en-US" dirty="0" smtClean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en-US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          }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07356" y="175658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MaterialPageRoute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07654" y="149351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context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5418" y="2649025"/>
            <a:ext cx="240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return</a:t>
            </a:r>
            <a:r>
              <a:rPr lang="en-US" b="1" dirty="0" smtClean="0"/>
              <a:t> Screen2();</a:t>
            </a:r>
            <a:endParaRPr lang="en-US" b="1" dirty="0"/>
          </a:p>
        </p:txBody>
      </p:sp>
      <p:sp>
        <p:nvSpPr>
          <p:cNvPr id="25" name="Rectangle 24"/>
          <p:cNvSpPr/>
          <p:nvPr/>
        </p:nvSpPr>
        <p:spPr>
          <a:xfrm>
            <a:off x="413022" y="1221048"/>
            <a:ext cx="2386148" cy="40320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80196" y="1235885"/>
            <a:ext cx="2417116" cy="539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Screen 2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16527" y="2641039"/>
            <a:ext cx="151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Screen 2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414331" y="1546552"/>
            <a:ext cx="313509" cy="8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6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2" grpId="0" animBg="1"/>
      <p:bldP spid="12" grpId="1" animBg="1"/>
      <p:bldP spid="13" grpId="0" animBg="1"/>
      <p:bldP spid="13" grpId="1" animBg="1"/>
      <p:bldP spid="8" grpId="0"/>
      <p:bldP spid="8" grpId="1"/>
      <p:bldP spid="18" grpId="0"/>
      <p:bldP spid="20" grpId="0"/>
      <p:bldP spid="21" grpId="0"/>
      <p:bldP spid="22" grpId="0"/>
      <p:bldP spid="23" grpId="0"/>
      <p:bldP spid="25" grpId="0" animBg="1"/>
      <p:bldP spid="25" grpId="1" animBg="1"/>
      <p:bldP spid="26" grpId="0" animBg="1"/>
      <p:bldP spid="26" grpId="1" animBg="1"/>
      <p:bldP spid="27" grpId="0"/>
      <p:bldP spid="2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Passing Data from one screen to another (Stateless)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09006" y="827314"/>
            <a:ext cx="2377440" cy="3526972"/>
            <a:chOff x="209006" y="827314"/>
            <a:chExt cx="2377440" cy="3526972"/>
          </a:xfrm>
        </p:grpSpPr>
        <p:sp>
          <p:nvSpPr>
            <p:cNvPr id="2" name="Rectangle 1"/>
            <p:cNvSpPr/>
            <p:nvPr/>
          </p:nvSpPr>
          <p:spPr>
            <a:xfrm>
              <a:off x="209006" y="827314"/>
              <a:ext cx="2377440" cy="352697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09006" y="827314"/>
              <a:ext cx="2377440" cy="2725783"/>
              <a:chOff x="209006" y="827314"/>
              <a:chExt cx="2377440" cy="2725783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09006" y="827314"/>
                <a:ext cx="2377440" cy="39188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Login Screen</a:t>
                </a:r>
                <a:endParaRPr lang="en-US" b="1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39635" y="1576251"/>
                <a:ext cx="1994262" cy="39188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Ali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39635" y="2325188"/>
                <a:ext cx="1994262" cy="39188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*****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696686" y="3222171"/>
                <a:ext cx="1227908" cy="330926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Login</a:t>
                </a:r>
                <a:endParaRPr lang="en-US" dirty="0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4868092" y="827314"/>
            <a:ext cx="2377440" cy="3526972"/>
            <a:chOff x="7023463" y="827314"/>
            <a:chExt cx="2377440" cy="3526972"/>
          </a:xfrm>
        </p:grpSpPr>
        <p:grpSp>
          <p:nvGrpSpPr>
            <p:cNvPr id="29" name="Group 28"/>
            <p:cNvGrpSpPr/>
            <p:nvPr/>
          </p:nvGrpSpPr>
          <p:grpSpPr>
            <a:xfrm>
              <a:off x="7023463" y="827314"/>
              <a:ext cx="2377440" cy="3526972"/>
              <a:chOff x="209006" y="827314"/>
              <a:chExt cx="2377440" cy="3526972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209006" y="827314"/>
                <a:ext cx="2377440" cy="352697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09006" y="827314"/>
                <a:ext cx="2377440" cy="39188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Dash Board</a:t>
                </a:r>
                <a:endParaRPr lang="en-US" b="1" dirty="0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7410995" y="1832641"/>
              <a:ext cx="17417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Welcome Ali</a:t>
              </a:r>
              <a:endParaRPr lang="en-US" sz="2000" b="1" dirty="0"/>
            </a:p>
          </p:txBody>
        </p:sp>
      </p:grpSp>
      <p:cxnSp>
        <p:nvCxnSpPr>
          <p:cNvPr id="19" name="Straight Arrow Connector 18"/>
          <p:cNvCxnSpPr/>
          <p:nvPr/>
        </p:nvCxnSpPr>
        <p:spPr>
          <a:xfrm>
            <a:off x="1336766" y="3614057"/>
            <a:ext cx="0" cy="975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39337" y="4650377"/>
            <a:ext cx="775933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Navigator.push</a:t>
            </a:r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context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MaterialPageRoute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</a:rPr>
              <a:t>builder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: (context){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b="1" dirty="0" smtClean="0">
                <a:latin typeface="Consolas" panose="020B0609020204030204" pitchFamily="49" charset="0"/>
              </a:rPr>
              <a:t>return </a:t>
            </a:r>
            <a:r>
              <a:rPr lang="en-US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DashBoardScreen</a:t>
            </a:r>
            <a:r>
              <a:rPr lang="en-US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username:</a:t>
            </a:r>
            <a:r>
              <a:rPr lang="en-US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username.text</a:t>
            </a:r>
            <a:r>
              <a:rPr lang="en-US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)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06491" y="757646"/>
            <a:ext cx="483914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class </a:t>
            </a:r>
            <a:r>
              <a:rPr lang="en-US" b="1" dirty="0" err="1" smtClean="0">
                <a:solidFill>
                  <a:srgbClr val="FF0000"/>
                </a:solidFill>
              </a:rPr>
              <a:t>DashBoardScreen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extends </a:t>
            </a:r>
            <a:r>
              <a:rPr lang="en-US" b="1" dirty="0" err="1" smtClean="0"/>
              <a:t>StatelessWidget</a:t>
            </a:r>
            <a:r>
              <a:rPr lang="en-US" b="1" dirty="0" smtClean="0"/>
              <a:t>{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 String username;</a:t>
            </a:r>
          </a:p>
          <a:p>
            <a:r>
              <a:rPr lang="en-US" b="1" dirty="0"/>
              <a:t> 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1"/>
                </a:solidFill>
              </a:rPr>
              <a:t>DashBoardScreen</a:t>
            </a:r>
            <a:r>
              <a:rPr lang="en-US" b="1" dirty="0" smtClean="0">
                <a:solidFill>
                  <a:schemeClr val="accent1"/>
                </a:solidFill>
              </a:rPr>
              <a:t>(</a:t>
            </a:r>
            <a:r>
              <a:rPr lang="en-US" b="1" dirty="0" smtClean="0">
                <a:solidFill>
                  <a:schemeClr val="accent2"/>
                </a:solidFill>
              </a:rPr>
              <a:t>{required </a:t>
            </a:r>
            <a:r>
              <a:rPr lang="en-US" b="1" dirty="0" err="1" smtClean="0">
                <a:solidFill>
                  <a:schemeClr val="accent2"/>
                </a:solidFill>
              </a:rPr>
              <a:t>this.username</a:t>
            </a:r>
            <a:r>
              <a:rPr lang="en-US" b="1" dirty="0" smtClean="0">
                <a:solidFill>
                  <a:schemeClr val="accent2"/>
                </a:solidFill>
              </a:rPr>
              <a:t>}</a:t>
            </a:r>
            <a:r>
              <a:rPr lang="en-US" b="1" dirty="0" smtClean="0">
                <a:solidFill>
                  <a:schemeClr val="accent1"/>
                </a:solidFill>
              </a:rPr>
              <a:t>);</a:t>
            </a:r>
          </a:p>
          <a:p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 Widget build(</a:t>
            </a:r>
            <a:r>
              <a:rPr lang="en-US" b="1" dirty="0" err="1" smtClean="0">
                <a:solidFill>
                  <a:srgbClr val="00B050"/>
                </a:solidFill>
              </a:rPr>
              <a:t>BuildContext</a:t>
            </a:r>
            <a:r>
              <a:rPr lang="en-US" b="1" dirty="0" smtClean="0">
                <a:solidFill>
                  <a:srgbClr val="00B050"/>
                </a:solidFill>
              </a:rPr>
              <a:t> context){</a:t>
            </a:r>
          </a:p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    return Scaffold(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     </a:t>
            </a:r>
            <a:r>
              <a:rPr lang="en-US" b="1" dirty="0" err="1" smtClean="0">
                <a:solidFill>
                  <a:schemeClr val="accent5"/>
                </a:solidFill>
              </a:rPr>
              <a:t>body:Center</a:t>
            </a:r>
            <a:r>
              <a:rPr lang="en-US" b="1" dirty="0" smtClean="0">
                <a:solidFill>
                  <a:schemeClr val="accent5"/>
                </a:solidFill>
              </a:rPr>
              <a:t>(Text(username))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);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 smtClean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 }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019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Passing Data from one screen to another (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Stateful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09006" y="827314"/>
            <a:ext cx="2377440" cy="3526972"/>
            <a:chOff x="209006" y="827314"/>
            <a:chExt cx="2377440" cy="3526972"/>
          </a:xfrm>
        </p:grpSpPr>
        <p:sp>
          <p:nvSpPr>
            <p:cNvPr id="2" name="Rectangle 1"/>
            <p:cNvSpPr/>
            <p:nvPr/>
          </p:nvSpPr>
          <p:spPr>
            <a:xfrm>
              <a:off x="209006" y="827314"/>
              <a:ext cx="2377440" cy="352697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09006" y="827314"/>
              <a:ext cx="2377440" cy="2725783"/>
              <a:chOff x="209006" y="827314"/>
              <a:chExt cx="2377440" cy="2725783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09006" y="827314"/>
                <a:ext cx="2377440" cy="39188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Login Screen</a:t>
                </a:r>
                <a:endParaRPr lang="en-US" b="1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39635" y="1576251"/>
                <a:ext cx="1994262" cy="39188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mtClean="0">
                    <a:solidFill>
                      <a:schemeClr val="tx1"/>
                    </a:solidFill>
                  </a:rPr>
                  <a:t>Ali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39635" y="2325188"/>
                <a:ext cx="1994262" cy="39188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*****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696686" y="3222171"/>
                <a:ext cx="1227908" cy="330926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Login</a:t>
                </a:r>
                <a:endParaRPr lang="en-US" dirty="0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714206" y="827314"/>
            <a:ext cx="2377440" cy="3526972"/>
            <a:chOff x="7023463" y="827314"/>
            <a:chExt cx="2377440" cy="3526972"/>
          </a:xfrm>
        </p:grpSpPr>
        <p:grpSp>
          <p:nvGrpSpPr>
            <p:cNvPr id="29" name="Group 28"/>
            <p:cNvGrpSpPr/>
            <p:nvPr/>
          </p:nvGrpSpPr>
          <p:grpSpPr>
            <a:xfrm>
              <a:off x="7023463" y="827314"/>
              <a:ext cx="2377440" cy="3526972"/>
              <a:chOff x="209006" y="827314"/>
              <a:chExt cx="2377440" cy="3526972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209006" y="827314"/>
                <a:ext cx="2377440" cy="352697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09006" y="827314"/>
                <a:ext cx="2377440" cy="39188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Dash Board</a:t>
                </a:r>
                <a:endParaRPr lang="en-US" b="1" dirty="0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7410995" y="1832641"/>
              <a:ext cx="17417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Welcome Ali</a:t>
              </a:r>
              <a:endParaRPr lang="en-US" sz="2000" b="1" dirty="0"/>
            </a:p>
          </p:txBody>
        </p:sp>
      </p:grpSp>
      <p:cxnSp>
        <p:nvCxnSpPr>
          <p:cNvPr id="19" name="Straight Arrow Connector 18"/>
          <p:cNvCxnSpPr/>
          <p:nvPr/>
        </p:nvCxnSpPr>
        <p:spPr>
          <a:xfrm>
            <a:off x="1336766" y="3614057"/>
            <a:ext cx="0" cy="975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39337" y="4650377"/>
            <a:ext cx="65973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Navigator.push</a:t>
            </a:r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context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MaterialPageRoute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</a:rPr>
              <a:t>builder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: (context){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b="1" dirty="0" smtClean="0">
                <a:latin typeface="Consolas" panose="020B0609020204030204" pitchFamily="49" charset="0"/>
              </a:rPr>
              <a:t>return </a:t>
            </a:r>
            <a:r>
              <a:rPr lang="en-US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DashBoardScreen</a:t>
            </a:r>
            <a:r>
              <a:rPr lang="en-US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username:</a:t>
            </a:r>
            <a:r>
              <a:rPr lang="en-US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username.text</a:t>
            </a:r>
            <a:r>
              <a:rPr lang="en-US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)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83383" y="726168"/>
            <a:ext cx="47364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class </a:t>
            </a:r>
            <a:r>
              <a:rPr lang="en-US" b="1" dirty="0" err="1" smtClean="0">
                <a:solidFill>
                  <a:srgbClr val="FF0000"/>
                </a:solidFill>
              </a:rPr>
              <a:t>DashBoardScreen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extends </a:t>
            </a:r>
            <a:r>
              <a:rPr lang="en-US" b="1" dirty="0" err="1" smtClean="0"/>
              <a:t>StatefulWidget</a:t>
            </a:r>
            <a:r>
              <a:rPr lang="en-US" b="1" dirty="0" smtClean="0"/>
              <a:t>{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 String username;</a:t>
            </a:r>
          </a:p>
          <a:p>
            <a:r>
              <a:rPr lang="en-US" b="1" dirty="0"/>
              <a:t> 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1"/>
                </a:solidFill>
              </a:rPr>
              <a:t>DashBoardScreen</a:t>
            </a:r>
            <a:r>
              <a:rPr lang="en-US" b="1" dirty="0" smtClean="0">
                <a:solidFill>
                  <a:schemeClr val="accent1"/>
                </a:solidFill>
              </a:rPr>
              <a:t>(</a:t>
            </a:r>
            <a:r>
              <a:rPr lang="en-US" b="1" dirty="0" smtClean="0">
                <a:solidFill>
                  <a:schemeClr val="accent2"/>
                </a:solidFill>
              </a:rPr>
              <a:t>{required </a:t>
            </a:r>
            <a:r>
              <a:rPr lang="en-US" b="1" dirty="0" err="1" smtClean="0">
                <a:solidFill>
                  <a:schemeClr val="accent2"/>
                </a:solidFill>
              </a:rPr>
              <a:t>this.username</a:t>
            </a:r>
            <a:r>
              <a:rPr lang="en-US" b="1" dirty="0" smtClean="0">
                <a:solidFill>
                  <a:schemeClr val="accent2"/>
                </a:solidFill>
              </a:rPr>
              <a:t>}</a:t>
            </a:r>
            <a:r>
              <a:rPr lang="en-US" b="1" dirty="0" smtClean="0">
                <a:solidFill>
                  <a:schemeClr val="accent1"/>
                </a:solidFill>
              </a:rPr>
              <a:t>);</a:t>
            </a:r>
          </a:p>
          <a:p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 State&lt;</a:t>
            </a:r>
            <a:r>
              <a:rPr lang="en-US" b="1" dirty="0" err="1" smtClean="0">
                <a:solidFill>
                  <a:srgbClr val="00B050"/>
                </a:solidFill>
              </a:rPr>
              <a:t>StatefulWidget</a:t>
            </a:r>
            <a:r>
              <a:rPr lang="en-US" b="1" dirty="0" smtClean="0">
                <a:solidFill>
                  <a:srgbClr val="00B050"/>
                </a:solidFill>
              </a:rPr>
              <a:t>&gt; </a:t>
            </a:r>
            <a:r>
              <a:rPr lang="en-US" b="1" dirty="0" err="1" smtClean="0">
                <a:solidFill>
                  <a:srgbClr val="00B050"/>
                </a:solidFill>
              </a:rPr>
              <a:t>createState</a:t>
            </a:r>
            <a:r>
              <a:rPr lang="en-US" b="1" dirty="0" smtClean="0">
                <a:solidFill>
                  <a:srgbClr val="00B050"/>
                </a:solidFill>
              </a:rPr>
              <a:t>(){</a:t>
            </a:r>
          </a:p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    return _</a:t>
            </a:r>
            <a:r>
              <a:rPr lang="en-US" b="1" dirty="0" err="1" smtClean="0">
                <a:solidFill>
                  <a:schemeClr val="accent2"/>
                </a:solidFill>
              </a:rPr>
              <a:t>DashBoardScreenState</a:t>
            </a:r>
            <a:r>
              <a:rPr lang="en-US" b="1" dirty="0" smtClean="0">
                <a:solidFill>
                  <a:schemeClr val="accent2"/>
                </a:solidFill>
              </a:rPr>
              <a:t>();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1646" y="2757493"/>
            <a:ext cx="629629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class _</a:t>
            </a:r>
            <a:r>
              <a:rPr lang="en-US" b="1" dirty="0" err="1" smtClean="0"/>
              <a:t>DasbBoardScreenState</a:t>
            </a:r>
            <a:r>
              <a:rPr lang="en-US" b="1" dirty="0" smtClean="0"/>
              <a:t> extends State&lt;</a:t>
            </a:r>
            <a:r>
              <a:rPr lang="en-US" b="1" dirty="0" err="1" smtClean="0"/>
              <a:t>DashBoardScreen</a:t>
            </a:r>
            <a:r>
              <a:rPr lang="en-US" b="1" dirty="0" smtClean="0"/>
              <a:t>&gt;</a:t>
            </a:r>
          </a:p>
          <a:p>
            <a:r>
              <a:rPr lang="en-US" b="1" dirty="0" smtClean="0"/>
              <a:t>{</a:t>
            </a:r>
          </a:p>
          <a:p>
            <a:r>
              <a:rPr lang="en-US" b="1" dirty="0" smtClean="0"/>
              <a:t>   </a:t>
            </a:r>
            <a:r>
              <a:rPr lang="en-US" b="1" dirty="0" smtClean="0">
                <a:solidFill>
                  <a:schemeClr val="accent2"/>
                </a:solidFill>
              </a:rPr>
              <a:t> Widget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build(</a:t>
            </a:r>
            <a:r>
              <a:rPr lang="en-US" b="1" dirty="0" err="1" smtClean="0">
                <a:solidFill>
                  <a:srgbClr val="FF0000"/>
                </a:solidFill>
              </a:rPr>
              <a:t>BuildContext</a:t>
            </a:r>
            <a:r>
              <a:rPr lang="en-US" b="1" dirty="0" smtClean="0">
                <a:solidFill>
                  <a:srgbClr val="FF0000"/>
                </a:solidFill>
              </a:rPr>
              <a:t> context){</a:t>
            </a: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</a:t>
            </a:r>
            <a:r>
              <a:rPr lang="en-US" b="1" dirty="0" smtClean="0">
                <a:solidFill>
                  <a:srgbClr val="00B050"/>
                </a:solidFill>
              </a:rPr>
              <a:t>return Scaffold(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     body: Center(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        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           child: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          )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      );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}</a:t>
            </a:r>
            <a:endParaRPr lang="en-US" b="1" dirty="0" smtClean="0"/>
          </a:p>
          <a:p>
            <a:r>
              <a:rPr lang="en-US" sz="2000" b="1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289076" y="4404751"/>
            <a:ext cx="1725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Text(</a:t>
            </a:r>
            <a:r>
              <a:rPr lang="en-US" b="1" dirty="0" smtClean="0">
                <a:solidFill>
                  <a:srgbClr val="FF0000"/>
                </a:solidFill>
              </a:rPr>
              <a:t>username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18" name="Multiply 17"/>
          <p:cNvSpPr/>
          <p:nvPr/>
        </p:nvSpPr>
        <p:spPr>
          <a:xfrm>
            <a:off x="8826113" y="4101737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" name="Minus 19"/>
          <p:cNvSpPr/>
          <p:nvPr/>
        </p:nvSpPr>
        <p:spPr>
          <a:xfrm>
            <a:off x="7770197" y="4558937"/>
            <a:ext cx="1133657" cy="484439"/>
          </a:xfrm>
          <a:prstGeom prst="mathMin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286941" y="4404751"/>
            <a:ext cx="2521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Text(</a:t>
            </a:r>
            <a:r>
              <a:rPr lang="en-US" sz="2000" b="1" dirty="0" err="1" smtClean="0">
                <a:solidFill>
                  <a:srgbClr val="002060"/>
                </a:solidFill>
              </a:rPr>
              <a:t>widget.</a:t>
            </a:r>
            <a:r>
              <a:rPr lang="en-US" b="1" dirty="0" err="1" smtClean="0">
                <a:solidFill>
                  <a:srgbClr val="FF0000"/>
                </a:solidFill>
              </a:rPr>
              <a:t>username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8151908" y="3053584"/>
            <a:ext cx="2571510" cy="14628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29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" grpId="0"/>
      <p:bldP spid="4" grpId="0"/>
      <p:bldP spid="4" grpId="1"/>
      <p:bldP spid="18" grpId="0" animBg="1"/>
      <p:bldP spid="18" grpId="1" animBg="1"/>
      <p:bldP spid="20" grpId="0" animBg="1"/>
      <p:bldP spid="20" grpId="1" animBg="1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Stack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063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Stack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297" y="779983"/>
            <a:ext cx="56083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children: [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Container(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  width: 200,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  height: 200,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Colors.blue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Container(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width: 200,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height: 200,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Colors.green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Container(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  width: 200,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  height: 200,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Colors.red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],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416" y="1301932"/>
            <a:ext cx="2827020" cy="3505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684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Stack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297" y="779983"/>
            <a:ext cx="56083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children: [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Container(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  width: 200,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  height: 200,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Colors.blue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Container(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width: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150,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height: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150,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Colors.green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Container(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  width: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100,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  height: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100,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Colors.red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],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506" y="1186543"/>
            <a:ext cx="2842260" cy="35770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032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Stack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873596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Stack(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children: [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7942" y="147029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CircleAvatar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radius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80,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Colors.blue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          ),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185" y="873595"/>
            <a:ext cx="2570118" cy="34371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00347" y="268514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Icon( 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Icons.camera_alt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smtClean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color: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Colors.white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),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185" y="873595"/>
            <a:ext cx="2570118" cy="34371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73132" y="268514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Positioned(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top: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right: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child: Icon(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Icons.camera_alt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size: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color: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Colors.white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),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971" y="873594"/>
            <a:ext cx="2597332" cy="34371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395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Asynchronous Methods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8924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Asynchronous Methods 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5208"/>
            <a:ext cx="12192000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chemeClr val="accent2"/>
                </a:solidFill>
              </a:rPr>
              <a:t>An asynchronous method allows a program to perform other work while waiting for a time-consuming operation (like fetching data, reading a file, or calling an API) to </a:t>
            </a:r>
            <a:r>
              <a:rPr lang="en-US" sz="3200" b="1" dirty="0" smtClean="0">
                <a:solidFill>
                  <a:schemeClr val="accent2"/>
                </a:solidFill>
              </a:rPr>
              <a:t>finish instead </a:t>
            </a:r>
            <a:r>
              <a:rPr lang="en-US" sz="3200" b="1" dirty="0">
                <a:solidFill>
                  <a:schemeClr val="accent2"/>
                </a:solidFill>
              </a:rPr>
              <a:t>of blocking the main </a:t>
            </a:r>
            <a:r>
              <a:rPr lang="en-US" sz="3200" b="1" dirty="0" smtClean="0">
                <a:solidFill>
                  <a:schemeClr val="accent2"/>
                </a:solidFill>
              </a:rPr>
              <a:t>thread. This </a:t>
            </a:r>
            <a:r>
              <a:rPr lang="en-US" sz="3200" b="1" dirty="0">
                <a:solidFill>
                  <a:schemeClr val="accent2"/>
                </a:solidFill>
              </a:rPr>
              <a:t>improves responsiveness and performance, especially in UI or networked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13971"/>
            <a:ext cx="7680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To make function asynchronous </a:t>
            </a:r>
            <a:r>
              <a:rPr lang="en-US" sz="2400" b="1" dirty="0" err="1" smtClean="0">
                <a:solidFill>
                  <a:srgbClr val="FF0000"/>
                </a:solidFill>
              </a:rPr>
              <a:t>async</a:t>
            </a:r>
            <a:r>
              <a:rPr lang="en-US" sz="2400" b="1" dirty="0" smtClean="0">
                <a:solidFill>
                  <a:srgbClr val="FF0000"/>
                </a:solidFill>
              </a:rPr>
              <a:t> keyword is used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132" y="4014651"/>
            <a:ext cx="20639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async</a:t>
            </a:r>
            <a:endParaRPr lang="en-US" sz="2800" b="1" dirty="0" smtClean="0"/>
          </a:p>
          <a:p>
            <a:endParaRPr lang="en-US" sz="2800" b="1" dirty="0" smtClean="0"/>
          </a:p>
          <a:p>
            <a:r>
              <a:rPr lang="en-US" sz="2800" b="1" dirty="0" smtClean="0"/>
              <a:t>await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Future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2350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Asynchronous Methods 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3771" y="847976"/>
            <a:ext cx="69755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asynchTest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"Start of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Simulating a delay using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Future.delayed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Future.delayed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(Duration(seconds: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 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"Inside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Future.delayed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"End of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"Before calling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Calling the asynchronous function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asynchTest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"After calling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91885" y="4153988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391885" y="4965278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335410" y="2192184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335410" y="5519080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330132" y="2561806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301103" y="3274388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195127" y="2988526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Before calling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195127" y="3398976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A31515"/>
                </a:solidFill>
                <a:latin typeface="Consolas" panose="020B0609020204030204" pitchFamily="49" charset="0"/>
              </a:rPr>
              <a:t>Start of </a:t>
            </a:r>
            <a:r>
              <a:rPr lang="en-US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endParaRPr lang="en-US" dirty="0"/>
          </a:p>
        </p:txBody>
      </p:sp>
      <p:sp>
        <p:nvSpPr>
          <p:cNvPr id="23" name="Right Arrow 22"/>
          <p:cNvSpPr/>
          <p:nvPr/>
        </p:nvSpPr>
        <p:spPr>
          <a:xfrm>
            <a:off x="391885" y="1417433"/>
            <a:ext cx="531224" cy="42672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195127" y="3859692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After calling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7195127" y="4343596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Inside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Future.delayed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7195127" y="4778052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End of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asynchTest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3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3" grpId="0" animBg="1"/>
      <p:bldP spid="23" grpId="1" animBg="1"/>
      <p:bldP spid="21" grpId="0"/>
      <p:bldP spid="24" grpId="0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Asynchronous Methods 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86691" y="1258746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getDataFromAPI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endParaRPr lang="en-US" sz="28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Multiply 25"/>
          <p:cNvSpPr/>
          <p:nvPr/>
        </p:nvSpPr>
        <p:spPr>
          <a:xfrm>
            <a:off x="2988732" y="1283133"/>
            <a:ext cx="1740286" cy="30841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5059" y="1258746"/>
            <a:ext cx="955196" cy="50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86691" y="4457151"/>
            <a:ext cx="9596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Asynchronous Methods should return Future.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67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Asynchronous Methods 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836" y="824637"/>
            <a:ext cx="854363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Future&lt;</a:t>
            </a:r>
            <a:r>
              <a:rPr lang="en-US" sz="32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getDataFromAPI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endParaRPr lang="en-US" sz="28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0363" y="2861503"/>
            <a:ext cx="1146232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1D35"/>
                </a:solidFill>
                <a:latin typeface="Google Sans"/>
              </a:rPr>
              <a:t>States of a Future: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 </a:t>
            </a:r>
            <a:r>
              <a:rPr lang="en-US" dirty="0" smtClean="0">
                <a:solidFill>
                  <a:srgbClr val="001D35"/>
                </a:solidFill>
                <a:latin typeface="Google Sans"/>
              </a:rPr>
              <a:t> A 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Future can be in one of three states</a:t>
            </a:r>
            <a:r>
              <a:rPr lang="en-US" dirty="0" smtClean="0">
                <a:solidFill>
                  <a:srgbClr val="001D35"/>
                </a:solidFill>
                <a:latin typeface="Google Sans"/>
              </a:rPr>
              <a:t>:</a:t>
            </a:r>
          </a:p>
          <a:p>
            <a:endParaRPr lang="en-US" b="1" dirty="0" smtClean="0">
              <a:solidFill>
                <a:srgbClr val="001D35"/>
              </a:solidFill>
              <a:latin typeface="Google Sans"/>
            </a:endParaRPr>
          </a:p>
          <a:p>
            <a:r>
              <a:rPr lang="en-US" b="1" dirty="0" smtClean="0">
                <a:solidFill>
                  <a:srgbClr val="001D35"/>
                </a:solidFill>
                <a:latin typeface="Google Sans"/>
              </a:rPr>
              <a:t>Uncompleted</a:t>
            </a:r>
            <a:r>
              <a:rPr lang="en-US" b="1" dirty="0">
                <a:solidFill>
                  <a:srgbClr val="001D35"/>
                </a:solidFill>
                <a:latin typeface="Google Sans"/>
              </a:rPr>
              <a:t>: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 The asynchronous operation is still in progress, and the value or error is not yet </a:t>
            </a:r>
            <a:r>
              <a:rPr lang="en-US" dirty="0" smtClean="0">
                <a:solidFill>
                  <a:srgbClr val="001D35"/>
                </a:solidFill>
                <a:latin typeface="Google Sans"/>
              </a:rPr>
              <a:t>available.</a:t>
            </a:r>
          </a:p>
          <a:p>
            <a:endParaRPr lang="en-US" b="1" dirty="0" smtClean="0">
              <a:solidFill>
                <a:srgbClr val="001D35"/>
              </a:solidFill>
              <a:latin typeface="Google Sans"/>
            </a:endParaRPr>
          </a:p>
          <a:p>
            <a:r>
              <a:rPr lang="en-US" b="1" dirty="0" smtClean="0">
                <a:solidFill>
                  <a:srgbClr val="001D35"/>
                </a:solidFill>
                <a:latin typeface="Google Sans"/>
              </a:rPr>
              <a:t>Completed </a:t>
            </a:r>
            <a:r>
              <a:rPr lang="en-US" b="1" dirty="0">
                <a:solidFill>
                  <a:srgbClr val="001D35"/>
                </a:solidFill>
                <a:latin typeface="Google Sans"/>
              </a:rPr>
              <a:t>with a value: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 The operation has finished successfully, and the Future holds the resulting </a:t>
            </a:r>
            <a:r>
              <a:rPr lang="en-US" dirty="0" smtClean="0">
                <a:solidFill>
                  <a:srgbClr val="001D35"/>
                </a:solidFill>
                <a:latin typeface="Google Sans"/>
              </a:rPr>
              <a:t>value.</a:t>
            </a:r>
          </a:p>
          <a:p>
            <a:endParaRPr lang="en-US" b="1" dirty="0" smtClean="0">
              <a:solidFill>
                <a:srgbClr val="001D35"/>
              </a:solidFill>
              <a:latin typeface="Google Sans"/>
            </a:endParaRPr>
          </a:p>
          <a:p>
            <a:r>
              <a:rPr lang="en-US" b="1" dirty="0" smtClean="0">
                <a:solidFill>
                  <a:srgbClr val="001D35"/>
                </a:solidFill>
                <a:latin typeface="Google Sans"/>
              </a:rPr>
              <a:t>Completed </a:t>
            </a:r>
            <a:r>
              <a:rPr lang="en-US" b="1" dirty="0">
                <a:solidFill>
                  <a:srgbClr val="001D35"/>
                </a:solidFill>
                <a:latin typeface="Google Sans"/>
              </a:rPr>
              <a:t>with an error: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 The operation encountered an error, and the Future holds the error information.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87484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836" y="824637"/>
            <a:ext cx="85436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Future&lt;</a:t>
            </a:r>
            <a:r>
              <a:rPr lang="en-US" sz="32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getDataFromAPI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endParaRPr lang="en-US" sz="28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0145" y="1563300"/>
            <a:ext cx="73244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Random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Random();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Future.delayed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(Duration(seconds: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randomNumber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random.nextInt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randomNumber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randomNumber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Exception(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'Failed to fetch data from API'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89010" y="3025239"/>
            <a:ext cx="2582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getDataFromAPI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6391015" y="302523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x=</a:t>
            </a:r>
            <a:endParaRPr lang="en-US" sz="2000" b="1" dirty="0"/>
          </a:p>
        </p:txBody>
      </p:sp>
      <p:sp>
        <p:nvSpPr>
          <p:cNvPr id="7" name="Multiply 6"/>
          <p:cNvSpPr/>
          <p:nvPr/>
        </p:nvSpPr>
        <p:spPr>
          <a:xfrm>
            <a:off x="10957074" y="2754324"/>
            <a:ext cx="834331" cy="94194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79407" y="3025239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await</a:t>
            </a: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89722" y="4610289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getDataFromAPI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55998" y="45599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.then(  </a:t>
            </a:r>
          </a:p>
          <a:p>
            <a:endParaRPr lang="en-US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26496" y="4590198"/>
            <a:ext cx="74731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(value)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print(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'Data fetched successfully: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$value</a:t>
            </a:r>
            <a:r>
              <a:rPr lang="en-US" sz="20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}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27221" y="5262604"/>
            <a:ext cx="79986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. </a:t>
            </a:r>
            <a:r>
              <a:rPr lang="en-US" sz="2400" b="1" dirty="0" err="1" smtClean="0">
                <a:solidFill>
                  <a:srgbClr val="00B050"/>
                </a:solidFill>
                <a:latin typeface="Consolas" panose="020B0609020204030204" pitchFamily="49" charset="0"/>
              </a:rPr>
              <a:t>catchError</a:t>
            </a:r>
            <a:r>
              <a:rPr lang="en-US" sz="2400" b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 </a:t>
            </a:r>
            <a:r>
              <a:rPr lang="en-US" sz="24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error) </a:t>
            </a:r>
            <a:r>
              <a:rPr lang="en-US" sz="24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        print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('Error occurred: $error</a:t>
            </a:r>
            <a:r>
              <a:rPr lang="en-US" sz="24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');}</a:t>
            </a:r>
            <a:endParaRPr lang="en-US" sz="2400" b="1" dirty="0" smtClean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);</a:t>
            </a:r>
            <a:endParaRPr lang="en-US" sz="2400" b="1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>
            <a:stCxn id="8" idx="0"/>
          </p:cNvCxnSpPr>
          <p:nvPr/>
        </p:nvCxnSpPr>
        <p:spPr>
          <a:xfrm flipH="1" flipV="1">
            <a:off x="7915564" y="2105891"/>
            <a:ext cx="8837" cy="9193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31913" y="1582670"/>
            <a:ext cx="483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await can be written only in </a:t>
            </a:r>
            <a:r>
              <a:rPr lang="en-US" sz="2000" b="1" dirty="0" err="1" smtClean="0">
                <a:solidFill>
                  <a:srgbClr val="FF0000"/>
                </a:solidFill>
              </a:rPr>
              <a:t>async</a:t>
            </a:r>
            <a:r>
              <a:rPr lang="en-US" sz="2000" b="1" dirty="0" smtClean="0">
                <a:solidFill>
                  <a:srgbClr val="FF0000"/>
                </a:solidFill>
              </a:rPr>
              <a:t> methods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55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7" grpId="1" animBg="1"/>
      <p:bldP spid="8" grpId="0"/>
      <p:bldP spid="3" grpId="0"/>
      <p:bldP spid="9" grpId="0"/>
      <p:bldP spid="10" grpId="0"/>
      <p:bldP spid="11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8778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Pick Image from Camera 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0005" y="879825"/>
            <a:ext cx="3274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image_picker</a:t>
            </a:r>
            <a:r>
              <a:rPr lang="en-US" sz="2800" b="1" dirty="0"/>
              <a:t>: ^1.2.0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005" y="1617662"/>
            <a:ext cx="4585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Step 1: Create object of </a:t>
            </a:r>
            <a:r>
              <a:rPr lang="en-US" sz="2000" b="1" dirty="0" err="1" smtClean="0">
                <a:solidFill>
                  <a:srgbClr val="FF0000"/>
                </a:solidFill>
              </a:rPr>
              <a:t>ImagePicker</a:t>
            </a:r>
            <a:r>
              <a:rPr lang="en-US" sz="2000" b="1" dirty="0" smtClean="0">
                <a:solidFill>
                  <a:srgbClr val="FF0000"/>
                </a:solidFill>
              </a:rPr>
              <a:t> class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10213" y="2155444"/>
            <a:ext cx="52708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Google Sans Mono"/>
              </a:rPr>
              <a:t>ImagePicker</a:t>
            </a:r>
            <a:r>
              <a:rPr lang="en-US" sz="2400" dirty="0">
                <a:solidFill>
                  <a:srgbClr val="FF0000"/>
                </a:solidFill>
                <a:latin typeface="Google Sans Mono"/>
              </a:rPr>
              <a:t> picker </a:t>
            </a:r>
            <a:r>
              <a:rPr lang="en-US" sz="2400" dirty="0">
                <a:solidFill>
                  <a:srgbClr val="4A4A4A"/>
                </a:solidFill>
                <a:latin typeface="Google Sans Mono"/>
              </a:rPr>
              <a:t>= </a:t>
            </a:r>
            <a:r>
              <a:rPr lang="en-US" sz="2400" dirty="0" err="1">
                <a:solidFill>
                  <a:srgbClr val="7030A0"/>
                </a:solidFill>
                <a:latin typeface="Google Sans Mono"/>
              </a:rPr>
              <a:t>ImagePicker</a:t>
            </a:r>
            <a:r>
              <a:rPr lang="en-US" sz="2400" dirty="0">
                <a:solidFill>
                  <a:srgbClr val="7030A0"/>
                </a:solidFill>
                <a:latin typeface="Google Sans Mono"/>
              </a:rPr>
              <a:t>();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005" y="2770171"/>
            <a:ext cx="4585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</a:rPr>
              <a:t>Step 2: use </a:t>
            </a:r>
            <a:r>
              <a:rPr lang="en-US" sz="2000" b="1" dirty="0" err="1" smtClean="0">
                <a:solidFill>
                  <a:srgbClr val="002060"/>
                </a:solidFill>
              </a:rPr>
              <a:t>pickImage</a:t>
            </a:r>
            <a:r>
              <a:rPr lang="en-US" sz="2000" b="1" dirty="0" smtClean="0">
                <a:solidFill>
                  <a:srgbClr val="002060"/>
                </a:solidFill>
              </a:rPr>
              <a:t> method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10213" y="3307953"/>
            <a:ext cx="92917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>
                <a:solidFill>
                  <a:srgbClr val="4A4A4A"/>
                </a:solidFill>
                <a:latin typeface="Google Sans Mono"/>
              </a:rPr>
              <a:t>XFile</a:t>
            </a:r>
            <a:r>
              <a:rPr lang="en-US" sz="2000" b="1" dirty="0">
                <a:solidFill>
                  <a:srgbClr val="4A4A4A"/>
                </a:solidFill>
                <a:latin typeface="Google Sans Mono"/>
              </a:rPr>
              <a:t>? photo = </a:t>
            </a:r>
            <a:r>
              <a:rPr lang="en-US" sz="2000" b="1" dirty="0">
                <a:solidFill>
                  <a:srgbClr val="D73A49"/>
                </a:solidFill>
                <a:latin typeface="Google Sans Mono"/>
              </a:rPr>
              <a:t>await</a:t>
            </a:r>
            <a:r>
              <a:rPr lang="en-US" sz="2000" b="1" dirty="0">
                <a:solidFill>
                  <a:srgbClr val="4A4A4A"/>
                </a:solidFill>
                <a:latin typeface="Google Sans Mono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Google Sans Mono"/>
              </a:rPr>
              <a:t>picker.</a:t>
            </a:r>
            <a:r>
              <a:rPr lang="en-US" sz="2400" b="1" dirty="0" err="1">
                <a:solidFill>
                  <a:schemeClr val="accent2"/>
                </a:solidFill>
                <a:latin typeface="Google Sans Mono"/>
              </a:rPr>
              <a:t>pickImage</a:t>
            </a:r>
            <a:r>
              <a:rPr lang="en-US" sz="2400" b="1" dirty="0">
                <a:solidFill>
                  <a:schemeClr val="accent2"/>
                </a:solidFill>
                <a:latin typeface="Google Sans Mono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Google Sans Mono"/>
              </a:rPr>
              <a:t>source: </a:t>
            </a:r>
            <a:r>
              <a:rPr lang="en-US" sz="2000" b="1" dirty="0" err="1">
                <a:solidFill>
                  <a:srgbClr val="FF0000"/>
                </a:solidFill>
                <a:latin typeface="Google Sans Mono"/>
              </a:rPr>
              <a:t>ImageSource.camera</a:t>
            </a:r>
            <a:r>
              <a:rPr lang="en-US" sz="2400" b="1" dirty="0">
                <a:solidFill>
                  <a:schemeClr val="accent2"/>
                </a:solidFill>
                <a:latin typeface="Google Sans Mono"/>
              </a:rPr>
              <a:t>);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0005" y="3922680"/>
            <a:ext cx="4585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</a:rPr>
              <a:t>Step 3: Create File from </a:t>
            </a:r>
            <a:r>
              <a:rPr lang="en-US" sz="2000" b="1" dirty="0" err="1" smtClean="0">
                <a:solidFill>
                  <a:srgbClr val="002060"/>
                </a:solidFill>
              </a:rPr>
              <a:t>XFile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91023" y="4485558"/>
            <a:ext cx="45319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00B050"/>
                </a:solidFill>
              </a:rPr>
              <a:t>Image.</a:t>
            </a:r>
            <a:r>
              <a:rPr lang="en-US" sz="2400" b="1" dirty="0" err="1" smtClean="0">
                <a:solidFill>
                  <a:srgbClr val="FF0000"/>
                </a:solidFill>
              </a:rPr>
              <a:t>file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/>
              <a:t>file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);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3241" y="3911891"/>
            <a:ext cx="4585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</a:rPr>
              <a:t>Step 4: Create Image widget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0212" y="4483211"/>
            <a:ext cx="45319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File </a:t>
            </a:r>
            <a:r>
              <a:rPr lang="en-US" sz="2400" b="1" dirty="0" err="1">
                <a:solidFill>
                  <a:srgbClr val="00B050"/>
                </a:solidFill>
              </a:rPr>
              <a:t>file</a:t>
            </a:r>
            <a:r>
              <a:rPr lang="en-US" sz="2400" b="1" dirty="0">
                <a:solidFill>
                  <a:srgbClr val="00B050"/>
                </a:solidFill>
              </a:rPr>
              <a:t> = </a:t>
            </a:r>
            <a:r>
              <a:rPr lang="en-US" sz="2400" b="1" dirty="0" smtClean="0">
                <a:solidFill>
                  <a:srgbClr val="00B050"/>
                </a:solidFill>
              </a:rPr>
              <a:t>File(</a:t>
            </a:r>
            <a:r>
              <a:rPr lang="en-US" sz="2400" b="1" dirty="0" err="1" smtClean="0">
                <a:solidFill>
                  <a:srgbClr val="00B050"/>
                </a:solidFill>
              </a:rPr>
              <a:t>photo.path</a:t>
            </a:r>
            <a:r>
              <a:rPr lang="en-US" sz="2400" b="1" dirty="0">
                <a:solidFill>
                  <a:srgbClr val="00B05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751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9" grpId="0"/>
      <p:bldP spid="18" grpId="0"/>
      <p:bldP spid="21" grpId="0"/>
      <p:bldP spid="20" grpId="0"/>
      <p:bldP spid="23" grpId="0"/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97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2290</TotalTime>
  <Words>966</Words>
  <Application>Microsoft Office PowerPoint</Application>
  <PresentationFormat>Widescreen</PresentationFormat>
  <Paragraphs>653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Consolas</vt:lpstr>
      <vt:lpstr>Google Sans</vt:lpstr>
      <vt:lpstr>Google Sans Mono</vt:lpstr>
      <vt:lpstr>Times New Roman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95</cp:revision>
  <dcterms:created xsi:type="dcterms:W3CDTF">2025-09-17T09:03:48Z</dcterms:created>
  <dcterms:modified xsi:type="dcterms:W3CDTF">2025-10-16T11:00:23Z</dcterms:modified>
</cp:coreProperties>
</file>
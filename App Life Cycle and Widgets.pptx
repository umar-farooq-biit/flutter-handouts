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9" r:id="rId3"/>
    <p:sldId id="278" r:id="rId4"/>
    <p:sldId id="269" r:id="rId5"/>
    <p:sldId id="276" r:id="rId6"/>
    <p:sldId id="271" r:id="rId7"/>
    <p:sldId id="277" r:id="rId8"/>
    <p:sldId id="273" r:id="rId9"/>
    <p:sldId id="274" r:id="rId10"/>
    <p:sldId id="270" r:id="rId11"/>
    <p:sldId id="280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7C55"/>
    <a:srgbClr val="A3B43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0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0570" y="2219416"/>
            <a:ext cx="2847704" cy="1112992"/>
          </a:xfrm>
        </p:spPr>
        <p:txBody>
          <a:bodyPr vert="horz" anchor="b">
            <a:normAutofit/>
          </a:bodyPr>
          <a:lstStyle/>
          <a:p>
            <a:pPr algn="r"/>
            <a:r>
              <a:rPr lang="en-US" sz="7200" b="1" dirty="0">
                <a:solidFill>
                  <a:srgbClr val="002060"/>
                </a:solidFill>
              </a:rPr>
              <a:t>Flutter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35" y="390618"/>
            <a:ext cx="3541047" cy="54153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Flutter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59970" y="1116535"/>
            <a:ext cx="4767812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 smtClean="0">
                <a:solidFill>
                  <a:srgbClr val="0070C0"/>
                </a:solidFill>
              </a:rPr>
              <a:t>Application Life Cycle</a:t>
            </a:r>
            <a:endParaRPr lang="en-US" sz="3200" b="1" dirty="0" smtClean="0">
              <a:solidFill>
                <a:srgbClr val="0070C0"/>
              </a:solidFill>
            </a:endParaRPr>
          </a:p>
          <a:p>
            <a:endParaRPr lang="en-US" sz="3200" b="1" dirty="0" smtClean="0">
              <a:solidFill>
                <a:srgbClr val="0070C0"/>
              </a:solidFill>
            </a:endParaRPr>
          </a:p>
          <a:p>
            <a:r>
              <a:rPr lang="en-US" sz="3200" b="1" dirty="0" smtClean="0">
                <a:solidFill>
                  <a:srgbClr val="0070C0"/>
                </a:solidFill>
              </a:rPr>
              <a:t>Widget</a:t>
            </a:r>
            <a:endParaRPr lang="en-US" sz="3200" b="1" dirty="0">
              <a:solidFill>
                <a:srgbClr val="0070C0"/>
              </a:solidFill>
            </a:endParaRPr>
          </a:p>
          <a:p>
            <a:endParaRPr lang="en-US" sz="3200" b="1" dirty="0" smtClean="0">
              <a:solidFill>
                <a:srgbClr val="0070C0"/>
              </a:solidFill>
            </a:endParaRPr>
          </a:p>
          <a:p>
            <a:r>
              <a:rPr lang="en-US" sz="3200" b="1" dirty="0" err="1" smtClean="0">
                <a:solidFill>
                  <a:srgbClr val="0070C0"/>
                </a:solidFill>
              </a:rPr>
              <a:t>StatelessWidgets</a:t>
            </a:r>
            <a:endParaRPr lang="en-US" sz="3200" b="1" dirty="0" smtClean="0">
              <a:solidFill>
                <a:srgbClr val="0070C0"/>
              </a:solidFill>
            </a:endParaRPr>
          </a:p>
          <a:p>
            <a:endParaRPr lang="en-US" sz="3200" b="1" dirty="0">
              <a:solidFill>
                <a:srgbClr val="0070C0"/>
              </a:solidFill>
            </a:endParaRPr>
          </a:p>
          <a:p>
            <a:r>
              <a:rPr lang="en-US" sz="3200" b="1" dirty="0" err="1" smtClean="0">
                <a:solidFill>
                  <a:srgbClr val="0070C0"/>
                </a:solidFill>
              </a:rPr>
              <a:t>StatefulWidgets</a:t>
            </a:r>
            <a:endParaRPr lang="en-US" sz="3200" b="1" dirty="0" smtClean="0">
              <a:solidFill>
                <a:srgbClr val="0070C0"/>
              </a:solidFill>
            </a:endParaRPr>
          </a:p>
          <a:p>
            <a:endParaRPr lang="en-US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13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Box 38"/>
          <p:cNvSpPr txBox="1"/>
          <p:nvPr/>
        </p:nvSpPr>
        <p:spPr>
          <a:xfrm>
            <a:off x="635" y="-3175"/>
            <a:ext cx="12190730" cy="6464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sz="3600" b="1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 Life Cycle</a:t>
            </a:r>
            <a:endParaRPr lang="en-US" sz="36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81" b="26882"/>
          <a:stretch/>
        </p:blipFill>
        <p:spPr>
          <a:xfrm>
            <a:off x="635" y="643254"/>
            <a:ext cx="12190730" cy="621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6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9388" y="621792"/>
            <a:ext cx="12191695" cy="685800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-52575"/>
            <a:ext cx="12191695" cy="822960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8985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smtClean="0"/>
              <a:t>What </a:t>
            </a:r>
            <a:r>
              <a:rPr dirty="0"/>
              <a:t>is a Widget?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476758"/>
            <a:ext cx="11292840" cy="3657599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894914"/>
            <a:ext cx="10250424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7DE6"/>
                </a:solidFill>
              </a:defRPr>
            </a:pPr>
            <a:r>
              <a:rPr sz="2400" dirty="0"/>
              <a:t>Key </a:t>
            </a:r>
            <a:r>
              <a:rPr sz="2400" dirty="0" smtClean="0"/>
              <a:t>Points</a:t>
            </a:r>
            <a:endParaRPr sz="2400" dirty="0"/>
          </a:p>
          <a:p>
            <a:pPr>
              <a:spcAft>
                <a:spcPts val="1000"/>
              </a:spcAft>
              <a:defRPr sz="1700">
                <a:solidFill>
                  <a:srgbClr val="1C2D40"/>
                </a:solidFill>
              </a:defRPr>
            </a:pPr>
            <a:r>
              <a:rPr sz="2400" dirty="0"/>
              <a:t>• A widget describes part of the user interface.</a:t>
            </a:r>
          </a:p>
          <a:p>
            <a:pPr>
              <a:spcAft>
                <a:spcPts val="1000"/>
              </a:spcAft>
              <a:defRPr sz="1700">
                <a:solidFill>
                  <a:srgbClr val="1C2D40"/>
                </a:solidFill>
              </a:defRPr>
            </a:pPr>
            <a:r>
              <a:rPr sz="2400" dirty="0"/>
              <a:t>• Text, images, buttons, layout containers and screens are built from widgets.</a:t>
            </a:r>
          </a:p>
          <a:p>
            <a:pPr>
              <a:spcAft>
                <a:spcPts val="1000"/>
              </a:spcAft>
              <a:defRPr sz="1700">
                <a:solidFill>
                  <a:srgbClr val="1C2D40"/>
                </a:solidFill>
              </a:defRPr>
            </a:pPr>
            <a:r>
              <a:rPr sz="2400" dirty="0"/>
              <a:t>• Widgets can be combined to create complex interfaces.</a:t>
            </a:r>
          </a:p>
          <a:p>
            <a:pPr>
              <a:spcAft>
                <a:spcPts val="1000"/>
              </a:spcAft>
              <a:defRPr sz="1700">
                <a:solidFill>
                  <a:srgbClr val="1C2D40"/>
                </a:solidFill>
              </a:defRPr>
            </a:pPr>
            <a:r>
              <a:rPr sz="2400" dirty="0"/>
              <a:t>• Think of a widget as a reusable UI building block.</a:t>
            </a:r>
          </a:p>
          <a:p>
            <a:pPr>
              <a:spcAft>
                <a:spcPts val="1000"/>
              </a:spcAft>
              <a:defRPr sz="1700">
                <a:solidFill>
                  <a:srgbClr val="1C2D40"/>
                </a:solidFill>
              </a:defRPr>
            </a:pPr>
            <a:r>
              <a:rPr sz="2400" dirty="0"/>
              <a:t>• Flutter UI is constructed by composing widgets.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88301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8532" y="229745"/>
            <a:ext cx="12191695" cy="685800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-52575"/>
            <a:ext cx="12191695" cy="822960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38436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dirty="0" smtClean="0"/>
              <a:t>Flutter Widget Hierarchy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" t="13037" r="-356" b="1629"/>
          <a:stretch/>
        </p:blipFill>
        <p:spPr>
          <a:xfrm>
            <a:off x="219454" y="822959"/>
            <a:ext cx="11731753" cy="559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44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8073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smtClean="0"/>
              <a:t>Stateless </a:t>
            </a:r>
            <a:r>
              <a:rPr dirty="0"/>
              <a:t>Widgets</a:t>
            </a:r>
          </a:p>
        </p:txBody>
      </p:sp>
      <p:pic>
        <p:nvPicPr>
          <p:cNvPr id="8" name="Picture 7" descr="a_clean_educational_infographic_poster_layout_abou.png"/>
          <p:cNvPicPr>
            <a:picLocks noChangeAspect="1"/>
          </p:cNvPicPr>
          <p:nvPr/>
        </p:nvPicPr>
        <p:blipFill rotWithShape="1">
          <a:blip r:embed="rId2"/>
          <a:srcRect t="14335" b="9153"/>
          <a:stretch/>
        </p:blipFill>
        <p:spPr>
          <a:xfrm>
            <a:off x="146304" y="872248"/>
            <a:ext cx="11539728" cy="4906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86547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5213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dirty="0" smtClean="0"/>
              <a:t>Life Cycle of Stateless Widget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20" b="9405"/>
          <a:stretch/>
        </p:blipFill>
        <p:spPr>
          <a:xfrm>
            <a:off x="6478" y="941832"/>
            <a:ext cx="12185522" cy="50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32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264437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err="1" smtClean="0"/>
              <a:t>StatefulWidgets</a:t>
            </a:r>
            <a:endParaRPr dirty="0"/>
          </a:p>
        </p:txBody>
      </p:sp>
      <p:pic>
        <p:nvPicPr>
          <p:cNvPr id="8" name="Picture 7" descr="a_clean_educational_infographic_poster_about_flutt.png"/>
          <p:cNvPicPr>
            <a:picLocks noChangeAspect="1"/>
          </p:cNvPicPr>
          <p:nvPr/>
        </p:nvPicPr>
        <p:blipFill rotWithShape="1">
          <a:blip r:embed="rId2"/>
          <a:srcRect t="13999" b="9818"/>
          <a:stretch/>
        </p:blipFill>
        <p:spPr>
          <a:xfrm>
            <a:off x="411480" y="694944"/>
            <a:ext cx="11109960" cy="46268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30744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41836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err="1" smtClean="0"/>
              <a:t>StatefulWidget</a:t>
            </a:r>
            <a:r>
              <a:rPr dirty="0" smtClean="0"/>
              <a:t> </a:t>
            </a:r>
            <a:r>
              <a:rPr lang="en-US" dirty="0" smtClean="0"/>
              <a:t> &amp; </a:t>
            </a:r>
            <a:r>
              <a:rPr dirty="0" smtClean="0"/>
              <a:t>Lifecycle</a:t>
            </a:r>
            <a:endParaRPr dirty="0"/>
          </a:p>
        </p:txBody>
      </p:sp>
      <p:pic>
        <p:nvPicPr>
          <p:cNvPr id="8" name="Picture 7" descr="a_clean_educational_infographic_slide_illustration.png"/>
          <p:cNvPicPr>
            <a:picLocks noChangeAspect="1"/>
          </p:cNvPicPr>
          <p:nvPr/>
        </p:nvPicPr>
        <p:blipFill rotWithShape="1">
          <a:blip r:embed="rId2"/>
          <a:srcRect l="31123" t="12838" b="9353"/>
          <a:stretch/>
        </p:blipFill>
        <p:spPr>
          <a:xfrm>
            <a:off x="914400" y="806684"/>
            <a:ext cx="9637776" cy="49651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18960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19881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smtClean="0"/>
              <a:t>Widget </a:t>
            </a:r>
            <a:r>
              <a:rPr dirty="0"/>
              <a:t>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6459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DBEEB"/>
                </a:solidFill>
              </a:defRPr>
            </a:pPr>
            <a:r>
              <a:rPr dirty="0"/>
              <a:t>Parent → Child → Grandchild</a:t>
            </a:r>
          </a:p>
        </p:txBody>
      </p:sp>
      <p:pic>
        <p:nvPicPr>
          <p:cNvPr id="8" name="Picture 7" descr="a_wide_clean_infographic_style_educational_poster.png"/>
          <p:cNvPicPr>
            <a:picLocks noChangeAspect="1"/>
          </p:cNvPicPr>
          <p:nvPr/>
        </p:nvPicPr>
        <p:blipFill rotWithShape="1">
          <a:blip r:embed="rId2"/>
          <a:srcRect t="14363" b="9353"/>
          <a:stretch/>
        </p:blipFill>
        <p:spPr>
          <a:xfrm>
            <a:off x="0" y="841248"/>
            <a:ext cx="12192000" cy="565099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02431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Stateless vs Stateful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89888"/>
            <a:ext cx="5120640" cy="658368"/>
          </a:xfrm>
          <a:prstGeom prst="roundRect">
            <a:avLst/>
          </a:prstGeom>
          <a:solidFill>
            <a:srgbClr val="1E7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StatelessWidget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1389888"/>
            <a:ext cx="5120640" cy="658368"/>
          </a:xfrm>
          <a:prstGeom prst="roundRect">
            <a:avLst/>
          </a:prstGeom>
          <a:solidFill>
            <a:srgbClr val="27A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3619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StatefulWidget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3172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7DE6"/>
                </a:solidFill>
              </a:defRPr>
            </a:pPr>
            <a:r>
              <a:t>Remember</a:t>
            </a:r>
          </a:p>
          <a:p>
            <a:pPr>
              <a:spcAft>
                <a:spcPts val="1000"/>
              </a:spcAft>
              <a:defRPr sz="1700">
                <a:solidFill>
                  <a:srgbClr val="1C2D40"/>
                </a:solidFill>
              </a:defRPr>
            </a:pPr>
            <a:r>
              <a:t>• No mutable internal state</a:t>
            </a:r>
          </a:p>
          <a:p>
            <a:pPr>
              <a:spcAft>
                <a:spcPts val="1000"/>
              </a:spcAft>
              <a:defRPr sz="1700">
                <a:solidFill>
                  <a:srgbClr val="1C2D40"/>
                </a:solidFill>
              </a:defRPr>
            </a:pPr>
            <a:r>
              <a:t>• Simple and lightweight</a:t>
            </a:r>
          </a:p>
          <a:p>
            <a:pPr>
              <a:spcAft>
                <a:spcPts val="1000"/>
              </a:spcAft>
              <a:defRPr sz="1700">
                <a:solidFill>
                  <a:srgbClr val="1C2D40"/>
                </a:solidFill>
              </a:defRPr>
            </a:pPr>
            <a:r>
              <a:t>• Good for static/presentation UI</a:t>
            </a:r>
          </a:p>
          <a:p>
            <a:pPr>
              <a:spcAft>
                <a:spcPts val="1000"/>
              </a:spcAft>
              <a:defRPr sz="1700">
                <a:solidFill>
                  <a:srgbClr val="1C2D40"/>
                </a:solidFill>
              </a:defRPr>
            </a:pPr>
            <a:r>
              <a:t>• Example: Text, Icon, Image</a:t>
            </a:r>
          </a:p>
          <a:p>
            <a:pPr>
              <a:spcAft>
                <a:spcPts val="1000"/>
              </a:spcAft>
              <a:defRPr sz="1700">
                <a:solidFill>
                  <a:srgbClr val="1C2D40"/>
                </a:solidFill>
              </a:defRPr>
            </a:pPr>
            <a:r>
              <a:t>• UI depends on configuration/inputs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7DE6"/>
                </a:solidFill>
              </a:defRPr>
            </a:pPr>
            <a:r>
              <a:t>Remember</a:t>
            </a:r>
          </a:p>
          <a:p>
            <a:pPr>
              <a:spcAft>
                <a:spcPts val="1000"/>
              </a:spcAft>
              <a:defRPr sz="1700">
                <a:solidFill>
                  <a:srgbClr val="1C2D40"/>
                </a:solidFill>
              </a:defRPr>
            </a:pPr>
            <a:r>
              <a:t>• Maintains changing state</a:t>
            </a:r>
          </a:p>
          <a:p>
            <a:pPr>
              <a:spcAft>
                <a:spcPts val="1000"/>
              </a:spcAft>
              <a:defRPr sz="1700">
                <a:solidFill>
                  <a:srgbClr val="1C2D40"/>
                </a:solidFill>
              </a:defRPr>
            </a:pPr>
            <a:r>
              <a:t>• Has a separate State object</a:t>
            </a:r>
          </a:p>
          <a:p>
            <a:pPr>
              <a:spcAft>
                <a:spcPts val="1000"/>
              </a:spcAft>
              <a:defRPr sz="1700">
                <a:solidFill>
                  <a:srgbClr val="1C2D40"/>
                </a:solidFill>
              </a:defRPr>
            </a:pPr>
            <a:r>
              <a:t>• Good for interactive/dynamic UI</a:t>
            </a:r>
          </a:p>
          <a:p>
            <a:pPr>
              <a:spcAft>
                <a:spcPts val="1000"/>
              </a:spcAft>
              <a:defRPr sz="1700">
                <a:solidFill>
                  <a:srgbClr val="1C2D40"/>
                </a:solidFill>
              </a:defRPr>
            </a:pPr>
            <a:r>
              <a:t>• Example: Switch, TextField, Checkbox</a:t>
            </a:r>
          </a:p>
          <a:p>
            <a:pPr>
              <a:spcAft>
                <a:spcPts val="1000"/>
              </a:spcAft>
              <a:defRPr sz="1700">
                <a:solidFill>
                  <a:srgbClr val="1C2D40"/>
                </a:solidFill>
              </a:defRPr>
            </a:pPr>
            <a:r>
              <a:t>• setState() can trigger a rebuild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89788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93057"/>
                </a:solidFill>
              </a:defRPr>
            </a:pPr>
            <a:r>
              <a:t>Rule of thumb: If the UI needs to remember and react to changing data, think Stateful.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1598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18872"/>
            <a:ext cx="31356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dirty="0" smtClean="0"/>
              <a:t>Basic App Hierarchy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93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941832"/>
            <a:ext cx="9628632" cy="510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305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182</Words>
  <Application>Microsoft Office PowerPoint</Application>
  <PresentationFormat>Widescreen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Flutter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Umar Farooq</dc:creator>
  <cp:lastModifiedBy>Umar Farooq</cp:lastModifiedBy>
  <cp:revision>52</cp:revision>
  <dcterms:created xsi:type="dcterms:W3CDTF">2025-07-10T08:45:00Z</dcterms:created>
  <dcterms:modified xsi:type="dcterms:W3CDTF">2026-09-11T06:20:08Z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996F272579824D57BB98F9699099FFF3_12</vt:lpwstr>
  </property>
  <property fmtid="{D5CDD505-2E9C-101B-9397-08002B2CF9AE}" pid="3" name="KSOProductBuildVer">
    <vt:lpwstr>1033-12.2.0.21931</vt:lpwstr>
  </property>
</Properties>
</file>
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274" r:id="rId3"/>
    <p:sldId id="275" r:id="rId4"/>
    <p:sldId id="278" r:id="rId5"/>
    <p:sldId id="279" r:id="rId6"/>
    <p:sldId id="263" r:id="rId7"/>
    <p:sldId id="277" r:id="rId8"/>
    <p:sldId id="280" r:id="rId9"/>
    <p:sldId id="281" r:id="rId10"/>
    <p:sldId id="282" r:id="rId11"/>
    <p:sldId id="284" r:id="rId12"/>
    <p:sldId id="285" r:id="rId13"/>
    <p:sldId id="28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715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600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685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94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200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753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175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330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141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910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204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C8A650-7C7E-4E41-AB7C-EA3224276799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763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0570" y="2219416"/>
            <a:ext cx="2847704" cy="1112992"/>
          </a:xfrm>
        </p:spPr>
        <p:txBody>
          <a:bodyPr vert="horz" anchor="b">
            <a:normAutofit/>
          </a:bodyPr>
          <a:lstStyle/>
          <a:p>
            <a:pPr algn="r"/>
            <a:r>
              <a:rPr lang="en-US" sz="7200" b="1" dirty="0">
                <a:solidFill>
                  <a:srgbClr val="002060"/>
                </a:solidFill>
              </a:rPr>
              <a:t>Flutter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8335" y="390618"/>
            <a:ext cx="3541047" cy="541537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027669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38"/>
          <p:cNvSpPr txBox="1"/>
          <p:nvPr/>
        </p:nvSpPr>
        <p:spPr>
          <a:xfrm>
            <a:off x="635" y="-3175"/>
            <a:ext cx="12190730" cy="6464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 b="1" dirty="0" smtClean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Flutter</a:t>
            </a:r>
            <a:endParaRPr lang="en-US" sz="36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469397" y="874811"/>
            <a:ext cx="4767812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 err="1" smtClean="0">
                <a:solidFill>
                  <a:srgbClr val="0070C0"/>
                </a:solidFill>
              </a:rPr>
              <a:t>StatefulWidget</a:t>
            </a:r>
            <a:endParaRPr lang="en-US" sz="3200" b="1" dirty="0">
              <a:solidFill>
                <a:srgbClr val="0070C0"/>
              </a:solidFill>
            </a:endParaRPr>
          </a:p>
          <a:p>
            <a:endParaRPr lang="en-US" sz="3200" b="1" dirty="0" smtClean="0">
              <a:solidFill>
                <a:srgbClr val="0070C0"/>
              </a:solidFill>
            </a:endParaRPr>
          </a:p>
          <a:p>
            <a:r>
              <a:rPr lang="en-US" sz="3200" b="1" dirty="0" smtClean="0">
                <a:solidFill>
                  <a:srgbClr val="0070C0"/>
                </a:solidFill>
              </a:rPr>
              <a:t>Counter</a:t>
            </a:r>
          </a:p>
          <a:p>
            <a:endParaRPr lang="en-US" sz="3200" b="1" dirty="0">
              <a:solidFill>
                <a:srgbClr val="0070C0"/>
              </a:solidFill>
            </a:endParaRPr>
          </a:p>
          <a:p>
            <a:r>
              <a:rPr lang="en-US" sz="3200" b="1" dirty="0" smtClean="0">
                <a:solidFill>
                  <a:srgbClr val="0070C0"/>
                </a:solidFill>
              </a:rPr>
              <a:t>Image</a:t>
            </a:r>
          </a:p>
        </p:txBody>
      </p:sp>
    </p:spTree>
    <p:extLst>
      <p:ext uri="{BB962C8B-B14F-4D97-AF65-F5344CB8AC3E}">
        <p14:creationId xmlns:p14="http://schemas.microsoft.com/office/powerpoint/2010/main" val="8394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38"/>
          <p:cNvSpPr txBox="1"/>
          <p:nvPr/>
        </p:nvSpPr>
        <p:spPr>
          <a:xfrm>
            <a:off x="635" y="-3175"/>
            <a:ext cx="12190730" cy="6464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 b="1" dirty="0" err="1" smtClean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StatelessWidget</a:t>
            </a:r>
            <a:endParaRPr lang="en-US" sz="36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29309" y="769586"/>
            <a:ext cx="6096000" cy="56323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package:flutter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/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material.dart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CounterExample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extends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StatelessWidget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</a:t>
            </a:r>
            <a:r>
              <a:rPr lang="en-US" dirty="0" smtClean="0">
                <a:solidFill>
                  <a:srgbClr val="0000FF"/>
                </a:solidFill>
                <a:latin typeface="Consolas" panose="020B0609020204030204" pitchFamily="49" charset="0"/>
              </a:rPr>
              <a:t>@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Widget build(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BuildContext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context)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Scaffold(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backgroundColor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Colors.orange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</a:t>
            </a:r>
            <a:endParaRPr lang="en-US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}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3260" y="769586"/>
            <a:ext cx="2556885" cy="535264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346649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38"/>
          <p:cNvSpPr txBox="1"/>
          <p:nvPr/>
        </p:nvSpPr>
        <p:spPr>
          <a:xfrm>
            <a:off x="635" y="-3175"/>
            <a:ext cx="12190730" cy="6464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 b="1" dirty="0" err="1" smtClean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StatelessWidget</a:t>
            </a:r>
            <a:endParaRPr lang="en-US" sz="36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29309" y="769586"/>
            <a:ext cx="6096000" cy="646330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package:flutter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/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material.dart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CounterExample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extends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StatelessWidget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</a:t>
            </a:r>
            <a:r>
              <a:rPr lang="en-US" dirty="0" smtClean="0">
                <a:solidFill>
                  <a:srgbClr val="0000FF"/>
                </a:solidFill>
                <a:latin typeface="Consolas" panose="020B0609020204030204" pitchFamily="49" charset="0"/>
              </a:rPr>
              <a:t>@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Widget build(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BuildContext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context)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Scaffold(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backgroundColor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Colors.orange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dirty="0"/>
              <a:t>    </a:t>
            </a:r>
            <a:r>
              <a:rPr lang="en-US" b="1" dirty="0" err="1"/>
              <a:t>appBar</a:t>
            </a:r>
            <a:r>
              <a:rPr lang="en-US" b="1" dirty="0"/>
              <a:t>: </a:t>
            </a:r>
            <a:r>
              <a:rPr lang="en-US" b="1" dirty="0" err="1"/>
              <a:t>AppBar</a:t>
            </a:r>
            <a:r>
              <a:rPr lang="en-US" b="1" dirty="0"/>
              <a:t>(title: Text('</a:t>
            </a:r>
            <a:r>
              <a:rPr lang="en-US" b="1" dirty="0" err="1"/>
              <a:t>Counter',style</a:t>
            </a:r>
            <a:r>
              <a:rPr lang="en-US" b="1" dirty="0"/>
              <a:t>: </a:t>
            </a:r>
            <a:r>
              <a:rPr lang="en-US" b="1" dirty="0" err="1"/>
              <a:t>TextStyle</a:t>
            </a:r>
            <a:r>
              <a:rPr lang="en-US" b="1" dirty="0"/>
              <a:t>(color: </a:t>
            </a:r>
            <a:r>
              <a:rPr lang="en-US" b="1" dirty="0" err="1"/>
              <a:t>Colors.white</a:t>
            </a:r>
            <a:r>
              <a:rPr lang="en-US" b="1" dirty="0"/>
              <a:t>),),</a:t>
            </a:r>
            <a:r>
              <a:rPr lang="en-US" b="1" dirty="0" err="1"/>
              <a:t>backgroundColor</a:t>
            </a:r>
            <a:r>
              <a:rPr lang="en-US" b="1" dirty="0"/>
              <a:t>: </a:t>
            </a:r>
            <a:r>
              <a:rPr lang="en-US" b="1" dirty="0" err="1"/>
              <a:t>Colors.black</a:t>
            </a:r>
            <a:r>
              <a:rPr lang="en-US" b="1" dirty="0"/>
              <a:t>,),</a:t>
            </a:r>
          </a:p>
          <a:p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</a:t>
            </a:r>
            <a:endParaRPr lang="en-US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}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9241" y="769586"/>
            <a:ext cx="3154680" cy="527725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531984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38"/>
          <p:cNvSpPr txBox="1"/>
          <p:nvPr/>
        </p:nvSpPr>
        <p:spPr>
          <a:xfrm>
            <a:off x="635" y="-3175"/>
            <a:ext cx="12190730" cy="6464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 b="1" dirty="0" err="1" smtClean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StatelessWidget</a:t>
            </a:r>
            <a:endParaRPr lang="en-US" sz="36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29308" y="769586"/>
            <a:ext cx="6031347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package:flutter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/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material.dart</a:t>
            </a:r>
            <a:r>
              <a:rPr lang="en-US" dirty="0" smtClean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CounterExample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extends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StatelessWidget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 </a:t>
            </a:r>
            <a:r>
              <a:rPr lang="en-US" b="1" dirty="0" err="1"/>
              <a:t>int</a:t>
            </a:r>
            <a:r>
              <a:rPr lang="en-US" b="1" dirty="0"/>
              <a:t> _counter=0</a:t>
            </a:r>
            <a:r>
              <a:rPr lang="en-US" b="1" dirty="0" smtClean="0"/>
              <a:t>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</a:t>
            </a:r>
            <a:r>
              <a:rPr lang="en-US" dirty="0" smtClean="0">
                <a:solidFill>
                  <a:srgbClr val="0000FF"/>
                </a:solidFill>
                <a:latin typeface="Consolas" panose="020B0609020204030204" pitchFamily="49" charset="0"/>
              </a:rPr>
              <a:t>@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Widget build(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BuildContext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context)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Scaffold(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backgroundColor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Colors.orange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dirty="0"/>
              <a:t>    </a:t>
            </a:r>
            <a:r>
              <a:rPr lang="en-US" dirty="0" err="1"/>
              <a:t>appBar</a:t>
            </a:r>
            <a:r>
              <a:rPr lang="en-US" dirty="0"/>
              <a:t>: </a:t>
            </a:r>
            <a:r>
              <a:rPr lang="en-US" dirty="0" err="1"/>
              <a:t>AppBar</a:t>
            </a:r>
            <a:r>
              <a:rPr lang="en-US" dirty="0"/>
              <a:t>(title: Text('</a:t>
            </a:r>
            <a:r>
              <a:rPr lang="en-US" dirty="0" err="1"/>
              <a:t>Counter',style</a:t>
            </a:r>
            <a:r>
              <a:rPr lang="en-US" dirty="0"/>
              <a:t>: </a:t>
            </a:r>
            <a:r>
              <a:rPr lang="en-US" dirty="0" err="1"/>
              <a:t>TextStyle</a:t>
            </a:r>
            <a:r>
              <a:rPr lang="en-US" dirty="0"/>
              <a:t>(color: </a:t>
            </a:r>
            <a:r>
              <a:rPr lang="en-US" dirty="0" err="1"/>
              <a:t>Colors.white</a:t>
            </a:r>
            <a:r>
              <a:rPr lang="en-US" dirty="0"/>
              <a:t>),),</a:t>
            </a:r>
            <a:r>
              <a:rPr lang="en-US" dirty="0" err="1"/>
              <a:t>backgroundColor</a:t>
            </a:r>
            <a:r>
              <a:rPr lang="en-US" dirty="0"/>
              <a:t>: </a:t>
            </a:r>
            <a:r>
              <a:rPr lang="en-US" dirty="0" err="1"/>
              <a:t>Colors.black</a:t>
            </a:r>
            <a:r>
              <a:rPr lang="en-US" dirty="0" smtClean="0"/>
              <a:t>,),</a:t>
            </a:r>
          </a:p>
          <a:p>
            <a:r>
              <a:rPr lang="en-US" b="1" dirty="0"/>
              <a:t>body: Padding(padding: </a:t>
            </a:r>
            <a:r>
              <a:rPr lang="en-US" b="1" dirty="0" err="1"/>
              <a:t>EdgeInsets.all</a:t>
            </a:r>
            <a:r>
              <a:rPr lang="en-US" b="1" dirty="0"/>
              <a:t>(15),</a:t>
            </a:r>
          </a:p>
          <a:p>
            <a:r>
              <a:rPr lang="en-US" b="1" dirty="0"/>
              <a:t>      child: Column(</a:t>
            </a:r>
          </a:p>
          <a:p>
            <a:r>
              <a:rPr lang="en-US" b="1" dirty="0"/>
              <a:t>        spacing: 10,</a:t>
            </a:r>
          </a:p>
          <a:p>
            <a:r>
              <a:rPr lang="en-US" b="1" dirty="0"/>
              <a:t>        children: [</a:t>
            </a:r>
          </a:p>
          <a:p>
            <a:r>
              <a:rPr lang="en-US" b="1" dirty="0"/>
              <a:t>          Text('Counter::${_counter}',style: </a:t>
            </a:r>
            <a:r>
              <a:rPr lang="en-US" b="1" dirty="0" err="1"/>
              <a:t>TextStyle</a:t>
            </a:r>
            <a:r>
              <a:rPr lang="en-US" b="1" dirty="0"/>
              <a:t>(</a:t>
            </a:r>
            <a:r>
              <a:rPr lang="en-US" b="1" dirty="0" err="1"/>
              <a:t>fontSize</a:t>
            </a:r>
            <a:r>
              <a:rPr lang="en-US" b="1" dirty="0"/>
              <a:t>: 25,color: </a:t>
            </a:r>
            <a:r>
              <a:rPr lang="en-US" b="1" dirty="0" err="1"/>
              <a:t>Colors.white</a:t>
            </a:r>
            <a:r>
              <a:rPr lang="en-US" b="1" dirty="0"/>
              <a:t>),),</a:t>
            </a:r>
          </a:p>
          <a:p>
            <a:r>
              <a:rPr lang="en-US" b="1" dirty="0"/>
              <a:t>          </a:t>
            </a:r>
            <a:r>
              <a:rPr lang="en-US" b="1" dirty="0" err="1"/>
              <a:t>ElevatedButton</a:t>
            </a:r>
            <a:r>
              <a:rPr lang="en-US" b="1" dirty="0"/>
              <a:t>(</a:t>
            </a:r>
            <a:r>
              <a:rPr lang="en-US" b="1" dirty="0" err="1"/>
              <a:t>onPressed</a:t>
            </a:r>
            <a:r>
              <a:rPr lang="en-US" b="1" dirty="0"/>
              <a:t>: (){</a:t>
            </a:r>
          </a:p>
          <a:p>
            <a:r>
              <a:rPr lang="en-US" b="1" dirty="0"/>
              <a:t>            _counter++;</a:t>
            </a:r>
          </a:p>
          <a:p>
            <a:r>
              <a:rPr lang="en-US" b="1" dirty="0"/>
              <a:t>          }, child: Text('+',style: </a:t>
            </a:r>
            <a:r>
              <a:rPr lang="en-US" b="1" dirty="0" err="1"/>
              <a:t>TextStyle</a:t>
            </a:r>
            <a:r>
              <a:rPr lang="en-US" b="1" dirty="0"/>
              <a:t>(</a:t>
            </a:r>
            <a:r>
              <a:rPr lang="en-US" b="1" dirty="0" err="1"/>
              <a:t>fontSize</a:t>
            </a:r>
            <a:r>
              <a:rPr lang="en-US" b="1" dirty="0"/>
              <a:t>: 30</a:t>
            </a:r>
            <a:r>
              <a:rPr lang="en-US" b="1" dirty="0" smtClean="0"/>
              <a:t>),))</a:t>
            </a: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>        ],</a:t>
            </a:r>
          </a:p>
          <a:p>
            <a:r>
              <a:rPr lang="en-US" b="1" dirty="0"/>
              <a:t>      ),</a:t>
            </a:r>
          </a:p>
          <a:p>
            <a:r>
              <a:rPr lang="en-US" b="1" dirty="0"/>
              <a:t>      </a:t>
            </a:r>
            <a:r>
              <a:rPr lang="en-US" b="1" dirty="0" smtClean="0"/>
              <a:t>)</a:t>
            </a:r>
            <a:r>
              <a:rPr lang="en-US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);  }  }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4150" y="643255"/>
            <a:ext cx="3154680" cy="589814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1982" y="643254"/>
            <a:ext cx="3196848" cy="589814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4100811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616363"/>
            <a:ext cx="12192000" cy="2364509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smtClean="0"/>
              <a:t>State Management 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818167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38"/>
          <p:cNvSpPr txBox="1"/>
          <p:nvPr/>
        </p:nvSpPr>
        <p:spPr>
          <a:xfrm>
            <a:off x="635" y="-3175"/>
            <a:ext cx="12190730" cy="6464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 b="1" dirty="0" smtClean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State Management</a:t>
            </a:r>
            <a:endParaRPr lang="en-US" sz="36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33603" y="1240043"/>
            <a:ext cx="136543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err="1">
                <a:solidFill>
                  <a:srgbClr val="0070C0"/>
                </a:solidFill>
              </a:rPr>
              <a:t>setState</a:t>
            </a:r>
            <a:endParaRPr lang="en-US" sz="2800" dirty="0">
              <a:solidFill>
                <a:srgbClr val="0070C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33603" y="2413061"/>
            <a:ext cx="15247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solidFill>
                  <a:srgbClr val="0070C0"/>
                </a:solidFill>
                <a:latin typeface="Google Sans"/>
              </a:rPr>
              <a:t>Provider</a:t>
            </a:r>
            <a:endParaRPr lang="en-US" sz="2800" dirty="0">
              <a:solidFill>
                <a:srgbClr val="0070C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33603" y="3558371"/>
            <a:ext cx="162576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err="1">
                <a:solidFill>
                  <a:srgbClr val="0070C0"/>
                </a:solidFill>
                <a:latin typeface="Google Sans"/>
              </a:rPr>
              <a:t>Riverpod</a:t>
            </a:r>
            <a:endParaRPr lang="en-US" sz="2800" dirty="0">
              <a:solidFill>
                <a:srgbClr val="0070C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975227" y="1240043"/>
            <a:ext cx="580319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err="1">
                <a:solidFill>
                  <a:srgbClr val="0070C0"/>
                </a:solidFill>
                <a:latin typeface="Google Sans"/>
              </a:rPr>
              <a:t>BLoC</a:t>
            </a:r>
            <a:r>
              <a:rPr lang="en-US" sz="2800" dirty="0">
                <a:solidFill>
                  <a:srgbClr val="0070C0"/>
                </a:solidFill>
                <a:latin typeface="Google Sans"/>
              </a:rPr>
              <a:t> (Business Logic Component)</a:t>
            </a:r>
            <a:endParaRPr lang="en-US" sz="2800" dirty="0">
              <a:solidFill>
                <a:srgbClr val="0070C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975227" y="2413061"/>
            <a:ext cx="102303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err="1">
                <a:solidFill>
                  <a:srgbClr val="0070C0"/>
                </a:solidFill>
                <a:latin typeface="Google Sans"/>
              </a:rPr>
              <a:t>GetX</a:t>
            </a:r>
            <a:endParaRPr lang="en-US" sz="2800" dirty="0">
              <a:solidFill>
                <a:srgbClr val="0070C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975227" y="3558371"/>
            <a:ext cx="122501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err="1">
                <a:solidFill>
                  <a:srgbClr val="0070C0"/>
                </a:solidFill>
                <a:latin typeface="Google Sans"/>
              </a:rPr>
              <a:t>Redux</a:t>
            </a:r>
            <a:endParaRPr lang="en-US" sz="2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5843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616363"/>
            <a:ext cx="12192000" cy="2364509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err="1" smtClean="0"/>
              <a:t>StatefulWidget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96903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38"/>
          <p:cNvSpPr txBox="1"/>
          <p:nvPr/>
        </p:nvSpPr>
        <p:spPr>
          <a:xfrm>
            <a:off x="635" y="-3175"/>
            <a:ext cx="12190730" cy="6464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 b="1" dirty="0" err="1" smtClean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StatefulWidget</a:t>
            </a:r>
            <a:endParaRPr lang="en-US" sz="36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32510" y="1027837"/>
            <a:ext cx="519083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Counter </a:t>
            </a:r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extends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StatefulWidget</a:t>
            </a:r>
            <a:endParaRPr lang="en-US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000" b="1" dirty="0" smtClean="0">
                <a:solidFill>
                  <a:srgbClr val="FF0000"/>
                </a:solidFill>
                <a:latin typeface="Consolas" panose="020B0609020204030204" pitchFamily="49" charset="0"/>
              </a:rPr>
              <a:t>      </a:t>
            </a:r>
            <a:r>
              <a:rPr lang="en-US" sz="2000" b="1" dirty="0">
                <a:solidFill>
                  <a:srgbClr val="FF0000"/>
                </a:solidFill>
              </a:rPr>
              <a:t>State&lt;</a:t>
            </a:r>
            <a:r>
              <a:rPr lang="en-US" sz="2000" b="1" dirty="0" err="1">
                <a:solidFill>
                  <a:srgbClr val="FF0000"/>
                </a:solidFill>
              </a:rPr>
              <a:t>StatefulWidget</a:t>
            </a:r>
            <a:r>
              <a:rPr lang="en-US" sz="2000" b="1" dirty="0">
                <a:solidFill>
                  <a:srgbClr val="FF0000"/>
                </a:solidFill>
              </a:rPr>
              <a:t>&gt; </a:t>
            </a:r>
            <a:r>
              <a:rPr lang="en-US" sz="2000" b="1" dirty="0" err="1">
                <a:solidFill>
                  <a:srgbClr val="FF0000"/>
                </a:solidFill>
              </a:rPr>
              <a:t>createState</a:t>
            </a:r>
            <a:r>
              <a:rPr lang="en-US" sz="2000" b="1" dirty="0">
                <a:solidFill>
                  <a:srgbClr val="FF0000"/>
                </a:solidFill>
              </a:rPr>
              <a:t>() </a:t>
            </a:r>
            <a:r>
              <a:rPr lang="en-US" sz="2000" b="1" dirty="0" smtClean="0">
                <a:solidFill>
                  <a:srgbClr val="FF0000"/>
                </a:solidFill>
              </a:rPr>
              <a:t>{</a:t>
            </a:r>
          </a:p>
          <a:p>
            <a:r>
              <a:rPr lang="en-US" sz="2400" b="1" dirty="0" smtClean="0">
                <a:solidFill>
                  <a:srgbClr val="FF0000"/>
                </a:solidFill>
              </a:rPr>
              <a:t>                </a:t>
            </a:r>
            <a:r>
              <a:rPr lang="en-US" sz="2000" b="1" dirty="0"/>
              <a:t>return _</a:t>
            </a:r>
            <a:r>
              <a:rPr lang="en-US" sz="2000" b="1" dirty="0" err="1"/>
              <a:t>CounterState</a:t>
            </a:r>
            <a:r>
              <a:rPr lang="en-US" sz="2000" b="1" dirty="0"/>
              <a:t>();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r>
              <a:rPr lang="en-US" sz="2000" b="1" dirty="0">
                <a:solidFill>
                  <a:srgbClr val="FF0000"/>
                </a:solidFill>
              </a:rPr>
              <a:t>    </a:t>
            </a:r>
          </a:p>
          <a:p>
            <a:r>
              <a:rPr lang="en-US" sz="2000" b="1" dirty="0" smtClean="0">
                <a:solidFill>
                  <a:srgbClr val="FF0000"/>
                </a:solidFill>
              </a:rPr>
              <a:t>            </a:t>
            </a:r>
            <a:r>
              <a:rPr lang="en-US" sz="2000" b="1" dirty="0">
                <a:solidFill>
                  <a:srgbClr val="FF0000"/>
                </a:solidFill>
              </a:rPr>
              <a:t>  }</a:t>
            </a:r>
          </a:p>
          <a:p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</a:p>
          <a:p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766062" y="1027837"/>
            <a:ext cx="6096000" cy="378565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_</a:t>
            </a:r>
            <a:r>
              <a:rPr lang="en-US" sz="20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CounterState</a:t>
            </a:r>
            <a:endParaRPr lang="en-US" sz="20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endParaRPr lang="en-US" sz="2000" b="1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/>
              <a:t> </a:t>
            </a:r>
            <a:r>
              <a:rPr lang="en-US" sz="20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sz="2000" b="1" dirty="0" smtClean="0">
                <a:solidFill>
                  <a:srgbClr val="0070C0"/>
                </a:solidFill>
              </a:rPr>
              <a:t>Widget </a:t>
            </a:r>
            <a:r>
              <a:rPr lang="en-US" sz="2000" b="1" dirty="0">
                <a:solidFill>
                  <a:srgbClr val="0070C0"/>
                </a:solidFill>
              </a:rPr>
              <a:t>build(</a:t>
            </a:r>
            <a:r>
              <a:rPr lang="en-US" sz="2000" b="1" dirty="0" err="1">
                <a:solidFill>
                  <a:srgbClr val="0070C0"/>
                </a:solidFill>
              </a:rPr>
              <a:t>BuildContext</a:t>
            </a:r>
            <a:r>
              <a:rPr lang="en-US" sz="2000" b="1" dirty="0">
                <a:solidFill>
                  <a:srgbClr val="0070C0"/>
                </a:solidFill>
              </a:rPr>
              <a:t> context) {</a:t>
            </a:r>
          </a:p>
          <a:p>
            <a:r>
              <a:rPr lang="en-US" sz="2000" b="1" dirty="0">
                <a:solidFill>
                  <a:srgbClr val="0070C0"/>
                </a:solidFill>
              </a:rPr>
              <a:t>    </a:t>
            </a:r>
          </a:p>
          <a:p>
            <a:r>
              <a:rPr lang="en-US" sz="2000" b="1" dirty="0">
                <a:solidFill>
                  <a:srgbClr val="0070C0"/>
                </a:solidFill>
              </a:rPr>
              <a:t>      </a:t>
            </a:r>
            <a:r>
              <a:rPr lang="en-US" sz="2000" b="1" dirty="0" smtClean="0">
                <a:solidFill>
                  <a:srgbClr val="0070C0"/>
                </a:solidFill>
              </a:rPr>
              <a:t>             </a:t>
            </a:r>
          </a:p>
          <a:p>
            <a:r>
              <a:rPr lang="en-US" sz="2000" b="1" dirty="0">
                <a:solidFill>
                  <a:srgbClr val="0070C0"/>
                </a:solidFill>
              </a:rPr>
              <a:t> </a:t>
            </a:r>
            <a:r>
              <a:rPr lang="en-US" sz="2000" b="1" dirty="0" smtClean="0">
                <a:solidFill>
                  <a:srgbClr val="0070C0"/>
                </a:solidFill>
              </a:rPr>
              <a:t>                      }</a:t>
            </a:r>
            <a:endParaRPr lang="en-US" sz="20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2000" b="1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20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2000" b="1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0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685229" y="1027837"/>
            <a:ext cx="31768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extends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State&lt;Counter&gt;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0099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38"/>
          <p:cNvSpPr txBox="1"/>
          <p:nvPr/>
        </p:nvSpPr>
        <p:spPr>
          <a:xfrm>
            <a:off x="635" y="-3175"/>
            <a:ext cx="12190730" cy="6464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 b="1" dirty="0" err="1" smtClean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StatefulWidget</a:t>
            </a:r>
            <a:endParaRPr lang="en-US" sz="36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9130" y="773792"/>
            <a:ext cx="837728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CounterScreen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extends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StatefulWidget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State&lt;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StatefulWidget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createState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 =&gt;_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CounterScreenState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}  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19958" y="1580184"/>
            <a:ext cx="11808644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_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CounterScreenState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extends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State&lt;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CounterScreen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_counter=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@override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Widget build(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BuildContext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context)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Scaffold(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body: Column(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children: [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Text(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'Counter::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${_counter}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,style: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TextStyle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fontSize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25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),),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ElevatedButton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onPressed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 (){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      _counter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</a:t>
            </a:r>
            <a:r>
              <a:rPr lang="en-US" b="1" dirty="0" err="1" smtClean="0">
                <a:solidFill>
                  <a:srgbClr val="002060"/>
                </a:solidFill>
                <a:latin typeface="Consolas" panose="020B0609020204030204" pitchFamily="49" charset="0"/>
              </a:rPr>
              <a:t>setState</a:t>
            </a:r>
            <a:r>
              <a:rPr lang="en-US" b="1" dirty="0" smtClean="0">
                <a:solidFill>
                  <a:srgbClr val="002060"/>
                </a:solidFill>
                <a:latin typeface="Consolas" panose="020B0609020204030204" pitchFamily="49" charset="0"/>
              </a:rPr>
              <a:t>((){}); </a:t>
            </a:r>
            <a:endParaRPr lang="en-US" b="1" dirty="0">
              <a:solidFill>
                <a:srgbClr val="00206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}, child: Text(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'+'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,style: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TextStyle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fontSize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30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),))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],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);   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}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351389" y="3751868"/>
            <a:ext cx="2384981" cy="195134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  <a:latin typeface="Consolas" panose="020B0609020204030204" pitchFamily="49" charset="0"/>
              </a:rPr>
              <a:t>Will </a:t>
            </a:r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call the build the method again and rebuild UI</a:t>
            </a:r>
            <a:endParaRPr lang="en-US" sz="2400" b="1" dirty="0">
              <a:solidFill>
                <a:srgbClr val="FF0000"/>
              </a:solidFill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5005633" y="4769964"/>
            <a:ext cx="4157221" cy="9426"/>
          </a:xfrm>
          <a:prstGeom prst="straightConnector1">
            <a:avLst/>
          </a:prstGeom>
          <a:ln>
            <a:tailEnd type="triangle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3976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38"/>
          <p:cNvSpPr txBox="1"/>
          <p:nvPr/>
        </p:nvSpPr>
        <p:spPr>
          <a:xfrm>
            <a:off x="635" y="-3175"/>
            <a:ext cx="12190730" cy="6464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 b="1" dirty="0" smtClean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Image</a:t>
            </a:r>
            <a:endParaRPr lang="en-US" sz="36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TextBox 4"/>
          <p:cNvSpPr txBox="1"/>
          <p:nvPr/>
        </p:nvSpPr>
        <p:spPr>
          <a:xfrm flipH="1">
            <a:off x="1205216" y="4440148"/>
            <a:ext cx="21130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</a:rPr>
              <a:t>Memory Image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 flipH="1">
            <a:off x="1176933" y="2895600"/>
            <a:ext cx="28577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</a:rPr>
              <a:t>Network Image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 flipH="1">
            <a:off x="1205216" y="1348033"/>
            <a:ext cx="21130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</a:rPr>
              <a:t>Asset Image</a:t>
            </a:r>
            <a:endParaRPr lang="en-US" sz="24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4824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/>
      <p:bldP spid="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38"/>
          <p:cNvSpPr txBox="1"/>
          <p:nvPr/>
        </p:nvSpPr>
        <p:spPr>
          <a:xfrm>
            <a:off x="635" y="-3175"/>
            <a:ext cx="12190730" cy="6464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 b="1" dirty="0" smtClean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Asset Image</a:t>
            </a:r>
            <a:endParaRPr lang="en-US" sz="36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3890" y="713800"/>
            <a:ext cx="1197956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rgbClr val="00B050"/>
                </a:solidFill>
              </a:rPr>
              <a:t>Create an Assets Folder: In the root directory of your Flutter project (the same level as </a:t>
            </a:r>
            <a:r>
              <a:rPr lang="en-US" b="1" dirty="0" err="1">
                <a:solidFill>
                  <a:srgbClr val="00B050"/>
                </a:solidFill>
              </a:rPr>
              <a:t>pubspec.yaml</a:t>
            </a:r>
            <a:r>
              <a:rPr lang="en-US" b="1" dirty="0">
                <a:solidFill>
                  <a:srgbClr val="00B050"/>
                </a:solidFill>
              </a:rPr>
              <a:t>), create a new folder, typically named assets. Inside this assets folder, you can create a subfolder, often named images, to organize your image files.</a:t>
            </a:r>
          </a:p>
          <a:p>
            <a:pPr algn="just"/>
            <a:r>
              <a:rPr lang="en-US" b="1" dirty="0">
                <a:solidFill>
                  <a:srgbClr val="00B050"/>
                </a:solidFill>
              </a:rPr>
              <a:t>Add Image Files: Place your image files (e.g., .</a:t>
            </a:r>
            <a:r>
              <a:rPr lang="en-US" b="1" dirty="0" err="1">
                <a:solidFill>
                  <a:srgbClr val="00B050"/>
                </a:solidFill>
              </a:rPr>
              <a:t>png</a:t>
            </a:r>
            <a:r>
              <a:rPr lang="en-US" b="1" dirty="0">
                <a:solidFill>
                  <a:srgbClr val="00B050"/>
                </a:solidFill>
              </a:rPr>
              <a:t>, .jpg, .gif) into the assets/images subfolder.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889" y="2348545"/>
            <a:ext cx="1197956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Register Assets in </a:t>
            </a:r>
            <a:r>
              <a:rPr lang="en-US" b="1" dirty="0" err="1">
                <a:solidFill>
                  <a:srgbClr val="FF0000"/>
                </a:solidFill>
              </a:rPr>
              <a:t>pubspec.yaml</a:t>
            </a:r>
            <a:r>
              <a:rPr lang="en-US" b="1" dirty="0">
                <a:solidFill>
                  <a:srgbClr val="FF0000"/>
                </a:solidFill>
              </a:rPr>
              <a:t>: Open the </a:t>
            </a:r>
            <a:r>
              <a:rPr lang="en-US" b="1" dirty="0" err="1">
                <a:solidFill>
                  <a:srgbClr val="FF0000"/>
                </a:solidFill>
              </a:rPr>
              <a:t>pubspec.yaml</a:t>
            </a:r>
            <a:r>
              <a:rPr lang="en-US" b="1" dirty="0">
                <a:solidFill>
                  <a:srgbClr val="FF0000"/>
                </a:solidFill>
              </a:rPr>
              <a:t> file in the root of your project. Locate the flutter: section and uncomment or add the assets: subsection. You can specify individual image paths or include entire directories. 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2452" y="2994876"/>
            <a:ext cx="4563804" cy="3078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977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616363"/>
            <a:ext cx="12192000" cy="2364509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smtClean="0"/>
              <a:t>Image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141768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510</TotalTime>
  <Words>195</Words>
  <Application>Microsoft Office PowerPoint</Application>
  <PresentationFormat>Widescreen</PresentationFormat>
  <Paragraphs>131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Consolas</vt:lpstr>
      <vt:lpstr>Google Sans</vt:lpstr>
      <vt:lpstr>Office Theme</vt:lpstr>
      <vt:lpstr>Flutter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Umar Farooq</dc:creator>
  <cp:lastModifiedBy>Umar Farooq</cp:lastModifiedBy>
  <cp:revision>34</cp:revision>
  <dcterms:created xsi:type="dcterms:W3CDTF">2025-09-17T09:03:48Z</dcterms:created>
  <dcterms:modified xsi:type="dcterms:W3CDTF">2025-09-25T11:50:12Z</dcterms:modified>
</cp:coreProperties>
</file>
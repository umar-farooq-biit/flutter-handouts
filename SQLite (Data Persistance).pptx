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74" r:id="rId3"/>
    <p:sldId id="278" r:id="rId4"/>
    <p:sldId id="279" r:id="rId5"/>
    <p:sldId id="280" r:id="rId6"/>
    <p:sldId id="283" r:id="rId7"/>
    <p:sldId id="281" r:id="rId8"/>
    <p:sldId id="284" r:id="rId9"/>
    <p:sldId id="28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332" autoAdjust="0"/>
  </p:normalViewPr>
  <p:slideViewPr>
    <p:cSldViewPr snapToGrid="0">
      <p:cViewPr varScale="1">
        <p:scale>
          <a:sx n="83" d="100"/>
          <a:sy n="83" d="100"/>
        </p:scale>
        <p:origin x="101" y="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3" y="1122363"/>
            <a:ext cx="9144001" cy="2387600"/>
          </a:xfrm>
        </p:spPr>
        <p:txBody>
          <a:bodyPr anchor="b"/>
          <a:lstStyle>
            <a:lvl1pPr algn="ctr">
              <a:defRPr sz="5999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3" y="3602038"/>
            <a:ext cx="9144001" cy="1655762"/>
          </a:xfrm>
        </p:spPr>
        <p:txBody>
          <a:bodyPr/>
          <a:lstStyle>
            <a:lvl1pPr marL="0" indent="0" algn="ctr">
              <a:buNone/>
              <a:defRPr sz="2399"/>
            </a:lvl1pPr>
            <a:lvl2pPr marL="457122" indent="0" algn="ctr">
              <a:buNone/>
              <a:defRPr sz="2000"/>
            </a:lvl2pPr>
            <a:lvl3pPr marL="914240" indent="0" algn="ctr">
              <a:buNone/>
              <a:defRPr sz="1799"/>
            </a:lvl3pPr>
            <a:lvl4pPr marL="1371359" indent="0" algn="ctr">
              <a:buNone/>
              <a:defRPr sz="1599"/>
            </a:lvl4pPr>
            <a:lvl5pPr marL="1828478" indent="0" algn="ctr">
              <a:buNone/>
              <a:defRPr sz="1599"/>
            </a:lvl5pPr>
            <a:lvl6pPr marL="2285597" indent="0" algn="ctr">
              <a:buNone/>
              <a:defRPr sz="1599"/>
            </a:lvl6pPr>
            <a:lvl7pPr marL="2742718" indent="0" algn="ctr">
              <a:buNone/>
              <a:defRPr sz="1599"/>
            </a:lvl7pPr>
            <a:lvl8pPr marL="3199837" indent="0" algn="ctr">
              <a:buNone/>
              <a:defRPr sz="1599"/>
            </a:lvl8pPr>
            <a:lvl9pPr marL="3656958" indent="0" algn="ctr">
              <a:buNone/>
              <a:defRPr sz="1599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715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600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45"/>
            <a:ext cx="10515600" cy="2852737"/>
          </a:xfrm>
        </p:spPr>
        <p:txBody>
          <a:bodyPr anchor="b"/>
          <a:lstStyle>
            <a:lvl1pPr>
              <a:defRPr sz="5999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71"/>
            <a:ext cx="10515600" cy="1500187"/>
          </a:xfrm>
        </p:spPr>
        <p:txBody>
          <a:bodyPr/>
          <a:lstStyle>
            <a:lvl1pPr marL="0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1pPr>
            <a:lvl2pPr marL="45712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240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359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4pPr>
            <a:lvl5pPr marL="1828478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5pPr>
            <a:lvl6pPr marL="2285597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6pPr>
            <a:lvl7pPr marL="2742718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7pPr>
            <a:lvl8pPr marL="3199837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8pPr>
            <a:lvl9pPr marL="3656958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685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2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2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94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30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92" y="1681163"/>
            <a:ext cx="5157788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122" indent="0">
              <a:buNone/>
              <a:defRPr sz="2000" b="1"/>
            </a:lvl2pPr>
            <a:lvl3pPr marL="914240" indent="0">
              <a:buNone/>
              <a:defRPr sz="1799" b="1"/>
            </a:lvl3pPr>
            <a:lvl4pPr marL="1371359" indent="0">
              <a:buNone/>
              <a:defRPr sz="1599" b="1"/>
            </a:lvl4pPr>
            <a:lvl5pPr marL="1828478" indent="0">
              <a:buNone/>
              <a:defRPr sz="1599" b="1"/>
            </a:lvl5pPr>
            <a:lvl6pPr marL="2285597" indent="0">
              <a:buNone/>
              <a:defRPr sz="1599" b="1"/>
            </a:lvl6pPr>
            <a:lvl7pPr marL="2742718" indent="0">
              <a:buNone/>
              <a:defRPr sz="1599" b="1"/>
            </a:lvl7pPr>
            <a:lvl8pPr marL="3199837" indent="0">
              <a:buNone/>
              <a:defRPr sz="1599" b="1"/>
            </a:lvl8pPr>
            <a:lvl9pPr marL="3656958" indent="0">
              <a:buNone/>
              <a:defRPr sz="1599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92" y="2505076"/>
            <a:ext cx="51577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5" y="1681163"/>
            <a:ext cx="5183188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122" indent="0">
              <a:buNone/>
              <a:defRPr sz="2000" b="1"/>
            </a:lvl2pPr>
            <a:lvl3pPr marL="914240" indent="0">
              <a:buNone/>
              <a:defRPr sz="1799" b="1"/>
            </a:lvl3pPr>
            <a:lvl4pPr marL="1371359" indent="0">
              <a:buNone/>
              <a:defRPr sz="1599" b="1"/>
            </a:lvl4pPr>
            <a:lvl5pPr marL="1828478" indent="0">
              <a:buNone/>
              <a:defRPr sz="1599" b="1"/>
            </a:lvl5pPr>
            <a:lvl6pPr marL="2285597" indent="0">
              <a:buNone/>
              <a:defRPr sz="1599" b="1"/>
            </a:lvl6pPr>
            <a:lvl7pPr marL="2742718" indent="0">
              <a:buNone/>
              <a:defRPr sz="1599" b="1"/>
            </a:lvl7pPr>
            <a:lvl8pPr marL="3199837" indent="0">
              <a:buNone/>
              <a:defRPr sz="1599" b="1"/>
            </a:lvl8pPr>
            <a:lvl9pPr marL="3656958" indent="0">
              <a:buNone/>
              <a:defRPr sz="1599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5" y="2505076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200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753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175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91" y="987432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799"/>
            </a:lvl2pPr>
            <a:lvl3pPr>
              <a:defRPr sz="2399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8" cy="3811588"/>
          </a:xfrm>
        </p:spPr>
        <p:txBody>
          <a:bodyPr/>
          <a:lstStyle>
            <a:lvl1pPr marL="0" indent="0">
              <a:buNone/>
              <a:defRPr sz="1599"/>
            </a:lvl1pPr>
            <a:lvl2pPr marL="457122" indent="0">
              <a:buNone/>
              <a:defRPr sz="1399"/>
            </a:lvl2pPr>
            <a:lvl3pPr marL="914240" indent="0">
              <a:buNone/>
              <a:defRPr sz="1201"/>
            </a:lvl3pPr>
            <a:lvl4pPr marL="1371359" indent="0">
              <a:buNone/>
              <a:defRPr sz="1000"/>
            </a:lvl4pPr>
            <a:lvl5pPr marL="1828478" indent="0">
              <a:buNone/>
              <a:defRPr sz="1000"/>
            </a:lvl5pPr>
            <a:lvl6pPr marL="2285597" indent="0">
              <a:buNone/>
              <a:defRPr sz="1000"/>
            </a:lvl6pPr>
            <a:lvl7pPr marL="2742718" indent="0">
              <a:buNone/>
              <a:defRPr sz="1000"/>
            </a:lvl7pPr>
            <a:lvl8pPr marL="3199837" indent="0">
              <a:buNone/>
              <a:defRPr sz="1000"/>
            </a:lvl8pPr>
            <a:lvl9pPr marL="3656958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330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91" y="987432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22" indent="0">
              <a:buNone/>
              <a:defRPr sz="2799"/>
            </a:lvl2pPr>
            <a:lvl3pPr marL="914240" indent="0">
              <a:buNone/>
              <a:defRPr sz="2399"/>
            </a:lvl3pPr>
            <a:lvl4pPr marL="1371359" indent="0">
              <a:buNone/>
              <a:defRPr sz="2000"/>
            </a:lvl4pPr>
            <a:lvl5pPr marL="1828478" indent="0">
              <a:buNone/>
              <a:defRPr sz="2000"/>
            </a:lvl5pPr>
            <a:lvl6pPr marL="2285597" indent="0">
              <a:buNone/>
              <a:defRPr sz="2000"/>
            </a:lvl6pPr>
            <a:lvl7pPr marL="2742718" indent="0">
              <a:buNone/>
              <a:defRPr sz="2000"/>
            </a:lvl7pPr>
            <a:lvl8pPr marL="3199837" indent="0">
              <a:buNone/>
              <a:defRPr sz="2000"/>
            </a:lvl8pPr>
            <a:lvl9pPr marL="3656958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8" cy="3811588"/>
          </a:xfrm>
        </p:spPr>
        <p:txBody>
          <a:bodyPr/>
          <a:lstStyle>
            <a:lvl1pPr marL="0" indent="0">
              <a:buNone/>
              <a:defRPr sz="1599"/>
            </a:lvl1pPr>
            <a:lvl2pPr marL="457122" indent="0">
              <a:buNone/>
              <a:defRPr sz="1399"/>
            </a:lvl2pPr>
            <a:lvl3pPr marL="914240" indent="0">
              <a:buNone/>
              <a:defRPr sz="1201"/>
            </a:lvl3pPr>
            <a:lvl4pPr marL="1371359" indent="0">
              <a:buNone/>
              <a:defRPr sz="1000"/>
            </a:lvl4pPr>
            <a:lvl5pPr marL="1828478" indent="0">
              <a:buNone/>
              <a:defRPr sz="1000"/>
            </a:lvl5pPr>
            <a:lvl6pPr marL="2285597" indent="0">
              <a:buNone/>
              <a:defRPr sz="1000"/>
            </a:lvl6pPr>
            <a:lvl7pPr marL="2742718" indent="0">
              <a:buNone/>
              <a:defRPr sz="1000"/>
            </a:lvl7pPr>
            <a:lvl8pPr marL="3199837" indent="0">
              <a:buNone/>
              <a:defRPr sz="1000"/>
            </a:lvl8pPr>
            <a:lvl9pPr marL="3656958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141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910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3" y="365125"/>
            <a:ext cx="2628901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4" y="365125"/>
            <a:ext cx="7734299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204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2" y="36513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4" y="6356358"/>
            <a:ext cx="27431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C8A650-7C7E-4E41-AB7C-EA3224276799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6" y="6356358"/>
            <a:ext cx="41147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5" y="6356358"/>
            <a:ext cx="27431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763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240" rtl="0" eaLnBrk="1" latinLnBrk="0" hangingPunct="1">
        <a:lnSpc>
          <a:spcPct val="90000"/>
        </a:lnSpc>
        <a:spcBef>
          <a:spcPct val="0"/>
        </a:spcBef>
        <a:buNone/>
        <a:defRPr sz="439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60" indent="-228560" algn="l" defTabSz="91424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680" indent="-228560" algn="l" defTabSz="91424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799" indent="-228560" algn="l" defTabSz="91424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919" indent="-228560" algn="l" defTabSz="91424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7039" indent="-228560" algn="l" defTabSz="91424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4157" indent="-228560" algn="l" defTabSz="91424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1276" indent="-228560" algn="l" defTabSz="91424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8398" indent="-228560" algn="l" defTabSz="91424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518" indent="-228560" algn="l" defTabSz="91424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4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122" algn="l" defTabSz="91424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algn="l" defTabSz="91424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359" algn="l" defTabSz="91424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478" algn="l" defTabSz="91424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597" algn="l" defTabSz="91424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718" algn="l" defTabSz="91424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837" algn="l" defTabSz="91424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958" algn="l" defTabSz="91424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0571" y="2219417"/>
            <a:ext cx="2847704" cy="1112992"/>
          </a:xfrm>
        </p:spPr>
        <p:txBody>
          <a:bodyPr vert="horz" anchor="b">
            <a:normAutofit/>
          </a:bodyPr>
          <a:lstStyle/>
          <a:p>
            <a:pPr algn="r"/>
            <a:r>
              <a:rPr lang="en-US" sz="7199" b="1" dirty="0">
                <a:solidFill>
                  <a:srgbClr val="002060"/>
                </a:solidFill>
              </a:rPr>
              <a:t>Flutter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336" y="390618"/>
            <a:ext cx="3541046" cy="541537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027669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0" y="0"/>
            <a:ext cx="12190731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Flutter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76208" y="1284092"/>
            <a:ext cx="4767812" cy="4524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7" tIns="45721" rIns="91437" bIns="45721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 smtClean="0">
                <a:solidFill>
                  <a:srgbClr val="0070C0"/>
                </a:solidFill>
              </a:rPr>
              <a:t>Data Persistence</a:t>
            </a:r>
            <a:endParaRPr lang="en-US" sz="3200" b="1" dirty="0">
              <a:solidFill>
                <a:srgbClr val="0070C0"/>
              </a:solidFill>
            </a:endParaRPr>
          </a:p>
          <a:p>
            <a:endParaRPr lang="en-US" sz="3200" b="1" dirty="0">
              <a:solidFill>
                <a:srgbClr val="0070C0"/>
              </a:solidFill>
            </a:endParaRPr>
          </a:p>
          <a:p>
            <a:r>
              <a:rPr lang="en-US" sz="3200" b="1" dirty="0">
                <a:solidFill>
                  <a:srgbClr val="0070C0"/>
                </a:solidFill>
              </a:rPr>
              <a:t>	</a:t>
            </a:r>
            <a:r>
              <a:rPr lang="en-US" sz="3200" b="1" dirty="0" err="1" smtClean="0">
                <a:solidFill>
                  <a:srgbClr val="0070C0"/>
                </a:solidFill>
              </a:rPr>
              <a:t>SqLite</a:t>
            </a:r>
            <a:endParaRPr lang="en-US" sz="3200" b="1" dirty="0">
              <a:solidFill>
                <a:srgbClr val="0070C0"/>
              </a:solidFill>
            </a:endParaRPr>
          </a:p>
          <a:p>
            <a:endParaRPr lang="en-US" sz="3200" b="1" dirty="0">
              <a:solidFill>
                <a:srgbClr val="0070C0"/>
              </a:solidFill>
            </a:endParaRPr>
          </a:p>
          <a:p>
            <a:r>
              <a:rPr lang="en-US" sz="3200" b="1" dirty="0">
                <a:solidFill>
                  <a:srgbClr val="0070C0"/>
                </a:solidFill>
              </a:rPr>
              <a:t>	</a:t>
            </a:r>
            <a:r>
              <a:rPr lang="en-US" sz="3200" b="1" dirty="0" smtClean="0">
                <a:solidFill>
                  <a:srgbClr val="0070C0"/>
                </a:solidFill>
              </a:rPr>
              <a:t>Hive</a:t>
            </a:r>
          </a:p>
          <a:p>
            <a:endParaRPr lang="en-US" sz="3200" b="1" dirty="0">
              <a:solidFill>
                <a:srgbClr val="0070C0"/>
              </a:solidFill>
            </a:endParaRPr>
          </a:p>
          <a:p>
            <a:r>
              <a:rPr lang="en-US" sz="3200" b="1" dirty="0">
                <a:solidFill>
                  <a:srgbClr val="0070C0"/>
                </a:solidFill>
              </a:rPr>
              <a:t>	</a:t>
            </a:r>
            <a:r>
              <a:rPr lang="en-US" sz="3200" b="1" dirty="0" smtClean="0">
                <a:solidFill>
                  <a:srgbClr val="0070C0"/>
                </a:solidFill>
              </a:rPr>
              <a:t>Shared Preferences</a:t>
            </a:r>
            <a:endParaRPr lang="en-US" sz="3200" b="1" dirty="0">
              <a:solidFill>
                <a:srgbClr val="0070C0"/>
              </a:solidFill>
            </a:endParaRPr>
          </a:p>
          <a:p>
            <a:endParaRPr lang="en-US" sz="3200" b="1" dirty="0">
              <a:solidFill>
                <a:srgbClr val="0070C0"/>
              </a:solidFill>
            </a:endParaRPr>
          </a:p>
          <a:p>
            <a:endParaRPr lang="en-US" sz="32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94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" y="1616366"/>
            <a:ext cx="12192001" cy="236450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 smtClean="0"/>
              <a:t>Data Persistence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461936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0" y="0"/>
            <a:ext cx="12190731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 Persistence</a:t>
            </a:r>
            <a:endParaRPr lang="en-US" sz="36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1765" y="929530"/>
            <a:ext cx="118872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b="1" dirty="0">
                <a:solidFill>
                  <a:srgbClr val="0070C0"/>
                </a:solidFill>
              </a:rPr>
              <a:t>Data persistence means keeping data stored permanently, even after the program that created or used it has stopped running or the device is turned off.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0289076"/>
              </p:ext>
            </p:extLst>
          </p:nvPr>
        </p:nvGraphicFramePr>
        <p:xfrm>
          <a:off x="837565" y="2027070"/>
          <a:ext cx="11201400" cy="2193798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733800">
                  <a:extLst>
                    <a:ext uri="{9D8B030D-6E8A-4147-A177-3AD203B41FA5}">
                      <a16:colId xmlns:a16="http://schemas.microsoft.com/office/drawing/2014/main" val="2392144032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1890929937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6661901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Storage Type</a:t>
                      </a:r>
                      <a:endParaRPr lang="en-US">
                        <a:solidFill>
                          <a:srgbClr val="7030A0"/>
                        </a:solidFill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Persistence</a:t>
                      </a:r>
                      <a:endParaRPr lang="en-US">
                        <a:solidFill>
                          <a:srgbClr val="7030A0"/>
                        </a:solidFill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 Use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662479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Variables (RAM)</a:t>
                      </a:r>
                      <a:endParaRPr lang="en-US">
                        <a:solidFill>
                          <a:srgbClr val="7030A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❌ Temporary</a:t>
                      </a:r>
                      <a:endParaRPr lang="en-US">
                        <a:solidFill>
                          <a:srgbClr val="7030A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In-memory data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4532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Files (Disk)</a:t>
                      </a:r>
                      <a:endParaRPr lang="en-US">
                        <a:solidFill>
                          <a:srgbClr val="7030A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✅ Persistent</a:t>
                      </a:r>
                      <a:endParaRPr lang="en-US">
                        <a:solidFill>
                          <a:srgbClr val="7030A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Logs, documents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80766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Databases (SQL, SQLite, Firebase)</a:t>
                      </a:r>
                      <a:endParaRPr lang="en-US">
                        <a:solidFill>
                          <a:srgbClr val="7030A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✅ Persistent</a:t>
                      </a:r>
                      <a:endParaRPr lang="en-US">
                        <a:solidFill>
                          <a:srgbClr val="7030A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User records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71125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Shared Preferences</a:t>
                      </a:r>
                      <a:endParaRPr lang="en-US">
                        <a:solidFill>
                          <a:srgbClr val="7030A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✅ Persistent</a:t>
                      </a:r>
                      <a:endParaRPr lang="en-US">
                        <a:solidFill>
                          <a:srgbClr val="7030A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App settings</a:t>
                      </a:r>
                      <a:endParaRPr lang="en-US">
                        <a:solidFill>
                          <a:srgbClr val="7030A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1340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Cache</a:t>
                      </a:r>
                      <a:endParaRPr lang="en-US">
                        <a:solidFill>
                          <a:srgbClr val="7030A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⚙️ Semi-persistent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Recently used data (may be cleared)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48550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0378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" y="1616366"/>
            <a:ext cx="12192001" cy="236450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 smtClean="0"/>
              <a:t>SQLite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1010902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0" y="0"/>
            <a:ext cx="12190731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SQLite</a:t>
            </a:r>
            <a:endParaRPr lang="en-US" sz="36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210492" y="818606"/>
            <a:ext cx="1008452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Locally Storing data (Normally used in Stand alone applications)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Packages required in flutter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 err="1" smtClean="0">
                <a:solidFill>
                  <a:srgbClr val="FF0000"/>
                </a:solidFill>
              </a:rPr>
              <a:t>sqflite</a:t>
            </a:r>
            <a:r>
              <a:rPr lang="en-US" sz="2800" dirty="0">
                <a:solidFill>
                  <a:srgbClr val="FF0000"/>
                </a:solidFill>
              </a:rPr>
              <a:t>: ^2.3.0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smtClean="0">
                <a:solidFill>
                  <a:srgbClr val="FF0000"/>
                </a:solidFill>
              </a:rPr>
              <a:t>path</a:t>
            </a:r>
            <a:r>
              <a:rPr lang="en-US" sz="2800" dirty="0">
                <a:solidFill>
                  <a:srgbClr val="FF0000"/>
                </a:solidFill>
              </a:rPr>
              <a:t>: ^1.9.0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sp>
        <p:nvSpPr>
          <p:cNvPr id="3" name="TextBox 2"/>
          <p:cNvSpPr txBox="1"/>
          <p:nvPr/>
        </p:nvSpPr>
        <p:spPr>
          <a:xfrm flipH="1">
            <a:off x="681441" y="3426712"/>
            <a:ext cx="90199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Database // this class helps you to perform CRUD operations 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 flipH="1">
            <a:off x="681442" y="3888377"/>
            <a:ext cx="84277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 smtClean="0">
                <a:solidFill>
                  <a:srgbClr val="002060"/>
                </a:solidFill>
              </a:rPr>
              <a:t>getDatabasePath</a:t>
            </a:r>
            <a:r>
              <a:rPr lang="en-US" sz="2400" b="1" dirty="0" smtClean="0">
                <a:solidFill>
                  <a:srgbClr val="002060"/>
                </a:solidFill>
              </a:rPr>
              <a:t>()  // this method gives the path for DB</a:t>
            </a:r>
            <a:endParaRPr lang="en-US" sz="2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2753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9668" y="95794"/>
            <a:ext cx="2926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c</a:t>
            </a:r>
            <a:r>
              <a:rPr lang="en-US" sz="2000" b="1" dirty="0" smtClean="0">
                <a:solidFill>
                  <a:srgbClr val="FF0000"/>
                </a:solidFill>
              </a:rPr>
              <a:t>lass </a:t>
            </a:r>
            <a:r>
              <a:rPr lang="en-US" sz="2000" b="1" dirty="0" err="1" smtClean="0">
                <a:solidFill>
                  <a:srgbClr val="FF0000"/>
                </a:solidFill>
              </a:rPr>
              <a:t>DBHelper</a:t>
            </a:r>
            <a:r>
              <a:rPr lang="en-US" sz="2000" b="1" dirty="0" smtClean="0">
                <a:solidFill>
                  <a:srgbClr val="FF0000"/>
                </a:solidFill>
              </a:rPr>
              <a:t> {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752157" y="6431654"/>
            <a:ext cx="4072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</a:rPr>
              <a:t>}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71565" y="1208798"/>
            <a:ext cx="4511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>
                <a:solidFill>
                  <a:srgbClr val="00B050"/>
                </a:solidFill>
              </a:rPr>
              <a:t>DBHelper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._</a:t>
            </a:r>
            <a:r>
              <a:rPr lang="en-US" b="1" dirty="0" err="1" smtClean="0">
                <a:solidFill>
                  <a:schemeClr val="accent1">
                    <a:lumMod val="75000"/>
                  </a:schemeClr>
                </a:solidFill>
              </a:rPr>
              <a:t>init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( ); </a:t>
            </a:r>
            <a:r>
              <a:rPr lang="en-US" b="1" dirty="0" smtClean="0">
                <a:solidFill>
                  <a:srgbClr val="00B050"/>
                </a:solidFill>
              </a:rPr>
              <a:t>// private constructor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71565" y="599458"/>
            <a:ext cx="2624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B050"/>
                </a:solidFill>
              </a:rPr>
              <a:t>Database ? </a:t>
            </a:r>
            <a:r>
              <a:rPr lang="en-US" b="1" dirty="0" smtClean="0"/>
              <a:t>_database</a:t>
            </a:r>
            <a:r>
              <a:rPr lang="en-US" b="1" dirty="0" smtClean="0">
                <a:solidFill>
                  <a:srgbClr val="00B050"/>
                </a:solidFill>
              </a:rPr>
              <a:t>; 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71565" y="1809567"/>
            <a:ext cx="4511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B050"/>
                </a:solidFill>
              </a:rPr>
              <a:t>static </a:t>
            </a:r>
            <a:r>
              <a:rPr lang="en-US" b="1" dirty="0" err="1" smtClean="0"/>
              <a:t>DBHelper</a:t>
            </a:r>
            <a:r>
              <a:rPr lang="en-US" b="1" dirty="0" smtClean="0"/>
              <a:t> instance</a:t>
            </a:r>
            <a:r>
              <a:rPr lang="en-US" b="1" dirty="0" smtClean="0">
                <a:solidFill>
                  <a:schemeClr val="accent2"/>
                </a:solidFill>
              </a:rPr>
              <a:t>=</a:t>
            </a:r>
            <a:r>
              <a:rPr lang="en-US" b="1" dirty="0" err="1" smtClean="0"/>
              <a:t>DBHelper</a:t>
            </a:r>
            <a:r>
              <a:rPr lang="en-US" b="1" dirty="0" smtClean="0">
                <a:solidFill>
                  <a:srgbClr val="FF0000"/>
                </a:solidFill>
              </a:rPr>
              <a:t>._</a:t>
            </a:r>
            <a:r>
              <a:rPr lang="en-US" b="1" dirty="0" err="1" smtClean="0">
                <a:solidFill>
                  <a:srgbClr val="FF0000"/>
                </a:solidFill>
              </a:rPr>
              <a:t>init</a:t>
            </a:r>
            <a:r>
              <a:rPr lang="en-US" b="1" dirty="0" smtClean="0">
                <a:solidFill>
                  <a:srgbClr val="FF0000"/>
                </a:solidFill>
              </a:rPr>
              <a:t>(); 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919938" y="3917645"/>
            <a:ext cx="997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instance</a:t>
            </a:r>
            <a:endParaRPr lang="en-US" b="1" dirty="0"/>
          </a:p>
        </p:txBody>
      </p:sp>
      <p:sp>
        <p:nvSpPr>
          <p:cNvPr id="3" name="Rectangle 2"/>
          <p:cNvSpPr/>
          <p:nvPr/>
        </p:nvSpPr>
        <p:spPr>
          <a:xfrm>
            <a:off x="2919938" y="4317755"/>
            <a:ext cx="1856506" cy="4000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A12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919937" y="5207306"/>
            <a:ext cx="1856507" cy="8220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3266302" y="4895534"/>
            <a:ext cx="997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A12</a:t>
            </a:r>
            <a:endParaRPr lang="en-US" b="1" dirty="0"/>
          </a:p>
        </p:txBody>
      </p:sp>
      <p:sp>
        <p:nvSpPr>
          <p:cNvPr id="12" name="Rectangle 11"/>
          <p:cNvSpPr/>
          <p:nvPr/>
        </p:nvSpPr>
        <p:spPr>
          <a:xfrm>
            <a:off x="3104664" y="5442622"/>
            <a:ext cx="1302327" cy="55812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null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3167009" y="5169078"/>
            <a:ext cx="1239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database</a:t>
            </a:r>
            <a:endParaRPr lang="en-US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371565" y="2309497"/>
            <a:ext cx="3960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Future&lt;</a:t>
            </a:r>
            <a:r>
              <a:rPr lang="en-US" b="1" dirty="0">
                <a:solidFill>
                  <a:srgbClr val="FF0000"/>
                </a:solidFill>
              </a:rPr>
              <a:t>D</a:t>
            </a:r>
            <a:r>
              <a:rPr lang="en-US" b="1" dirty="0" smtClean="0">
                <a:solidFill>
                  <a:srgbClr val="FF0000"/>
                </a:solidFill>
              </a:rPr>
              <a:t>atabase</a:t>
            </a:r>
            <a:r>
              <a:rPr lang="en-US" b="1" dirty="0" smtClean="0"/>
              <a:t>&gt; </a:t>
            </a:r>
            <a:r>
              <a:rPr lang="en-US" b="1" dirty="0" smtClean="0">
                <a:solidFill>
                  <a:srgbClr val="002060"/>
                </a:solidFill>
              </a:rPr>
              <a:t>get</a:t>
            </a:r>
            <a:r>
              <a:rPr lang="en-US" b="1" dirty="0" smtClean="0"/>
              <a:t>  database </a:t>
            </a:r>
            <a:r>
              <a:rPr lang="en-US" b="1" dirty="0" err="1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async</a:t>
            </a:r>
            <a:r>
              <a:rPr lang="en-US" b="1" dirty="0" smtClean="0"/>
              <a:t> {</a:t>
            </a:r>
            <a:endParaRPr lang="en-US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505492" y="2678829"/>
            <a:ext cx="3934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if (</a:t>
            </a:r>
            <a:r>
              <a:rPr lang="en-US" b="1" dirty="0" smtClean="0">
                <a:solidFill>
                  <a:srgbClr val="FF0000"/>
                </a:solidFill>
              </a:rPr>
              <a:t>_database!=null</a:t>
            </a:r>
            <a:r>
              <a:rPr lang="en-US" b="1" dirty="0" smtClean="0"/>
              <a:t>)</a:t>
            </a:r>
            <a:r>
              <a:rPr lang="en-US" b="1" dirty="0" smtClean="0">
                <a:solidFill>
                  <a:schemeClr val="accent5"/>
                </a:solidFill>
              </a:rPr>
              <a:t> return </a:t>
            </a:r>
            <a:r>
              <a:rPr lang="en-US" b="1" dirty="0" smtClean="0"/>
              <a:t>_database</a:t>
            </a:r>
            <a:r>
              <a:rPr lang="en-US" b="1" dirty="0" smtClean="0">
                <a:solidFill>
                  <a:srgbClr val="FF0000"/>
                </a:solidFill>
              </a:rPr>
              <a:t>!</a:t>
            </a:r>
            <a:r>
              <a:rPr lang="en-US" b="1" dirty="0" smtClean="0"/>
              <a:t>;</a:t>
            </a:r>
            <a:endParaRPr lang="en-US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523714" y="3124257"/>
            <a:ext cx="3393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_database=</a:t>
            </a:r>
            <a:r>
              <a:rPr lang="en-US" b="1" dirty="0" smtClean="0">
                <a:solidFill>
                  <a:srgbClr val="0070C0"/>
                </a:solidFill>
              </a:rPr>
              <a:t>await</a:t>
            </a:r>
            <a:r>
              <a:rPr lang="en-US" b="1" dirty="0" smtClean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_</a:t>
            </a:r>
            <a:r>
              <a:rPr lang="en-US" b="1" dirty="0" err="1" smtClean="0">
                <a:solidFill>
                  <a:srgbClr val="FF0000"/>
                </a:solidFill>
              </a:rPr>
              <a:t>initializedDB</a:t>
            </a:r>
            <a:r>
              <a:rPr lang="en-US" b="1" dirty="0" smtClean="0">
                <a:solidFill>
                  <a:srgbClr val="FF0000"/>
                </a:solidFill>
              </a:rPr>
              <a:t>();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5492" y="3548313"/>
            <a:ext cx="20179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accent5"/>
                </a:solidFill>
              </a:rPr>
              <a:t> return </a:t>
            </a:r>
            <a:r>
              <a:rPr lang="en-US" b="1" dirty="0" smtClean="0"/>
              <a:t>_database</a:t>
            </a:r>
            <a:r>
              <a:rPr lang="en-US" b="1" dirty="0" smtClean="0">
                <a:solidFill>
                  <a:srgbClr val="FF0000"/>
                </a:solidFill>
              </a:rPr>
              <a:t>!</a:t>
            </a:r>
            <a:r>
              <a:rPr lang="en-US" b="1" dirty="0" smtClean="0"/>
              <a:t>;</a:t>
            </a:r>
            <a:endParaRPr lang="en-US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523714" y="3929498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accent5"/>
                </a:solidFill>
              </a:rPr>
              <a:t> </a:t>
            </a:r>
            <a:r>
              <a:rPr lang="en-US" b="1" dirty="0" smtClean="0"/>
              <a:t>}</a:t>
            </a:r>
            <a:endParaRPr lang="en-US" b="1" dirty="0"/>
          </a:p>
        </p:txBody>
      </p:sp>
      <p:cxnSp>
        <p:nvCxnSpPr>
          <p:cNvPr id="20" name="Straight Connector 19"/>
          <p:cNvCxnSpPr/>
          <p:nvPr/>
        </p:nvCxnSpPr>
        <p:spPr>
          <a:xfrm>
            <a:off x="5449455" y="95794"/>
            <a:ext cx="36945" cy="653591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449455" y="84508"/>
            <a:ext cx="3874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Future&lt;</a:t>
            </a:r>
            <a:r>
              <a:rPr lang="en-US" b="1" dirty="0" smtClean="0">
                <a:solidFill>
                  <a:srgbClr val="FF0000"/>
                </a:solidFill>
              </a:rPr>
              <a:t>database</a:t>
            </a:r>
            <a:r>
              <a:rPr lang="en-US" b="1" dirty="0" smtClean="0"/>
              <a:t>&gt; </a:t>
            </a:r>
            <a:r>
              <a:rPr lang="en-US" b="1" dirty="0"/>
              <a:t>_</a:t>
            </a:r>
            <a:r>
              <a:rPr lang="en-US" b="1" dirty="0" err="1" smtClean="0">
                <a:solidFill>
                  <a:srgbClr val="002060"/>
                </a:solidFill>
              </a:rPr>
              <a:t>initializeDB</a:t>
            </a:r>
            <a:r>
              <a:rPr lang="en-US" b="1" dirty="0" smtClean="0"/>
              <a:t> </a:t>
            </a:r>
            <a:r>
              <a:rPr lang="en-US" b="1" dirty="0" err="1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async</a:t>
            </a:r>
            <a:r>
              <a:rPr lang="en-US" b="1" dirty="0" smtClean="0"/>
              <a:t> {</a:t>
            </a:r>
            <a:endParaRPr lang="en-US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5432809" y="453840"/>
            <a:ext cx="41581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String </a:t>
            </a:r>
            <a:r>
              <a:rPr lang="en-US" b="1" dirty="0" err="1" smtClean="0"/>
              <a:t>dbPath</a:t>
            </a:r>
            <a:r>
              <a:rPr lang="en-US" b="1" dirty="0" smtClean="0"/>
              <a:t>=</a:t>
            </a:r>
            <a:r>
              <a:rPr lang="en-US" b="1" dirty="0" smtClean="0">
                <a:solidFill>
                  <a:srgbClr val="0070C0"/>
                </a:solidFill>
              </a:rPr>
              <a:t>await</a:t>
            </a:r>
            <a:r>
              <a:rPr lang="en-US" b="1" dirty="0" smtClean="0"/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getDatabasesPath</a:t>
            </a:r>
            <a:r>
              <a:rPr lang="en-US" b="1" dirty="0" smtClean="0">
                <a:solidFill>
                  <a:srgbClr val="FF0000"/>
                </a:solidFill>
              </a:rPr>
              <a:t>( );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86400" y="839466"/>
            <a:ext cx="3902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String path=</a:t>
            </a:r>
            <a:r>
              <a:rPr lang="en-US" b="1" dirty="0" smtClean="0">
                <a:solidFill>
                  <a:srgbClr val="0070C0"/>
                </a:solidFill>
              </a:rPr>
              <a:t>join</a:t>
            </a:r>
            <a:r>
              <a:rPr lang="en-US" b="1" dirty="0" smtClean="0"/>
              <a:t>(</a:t>
            </a:r>
            <a:r>
              <a:rPr lang="en-US" b="1" dirty="0" err="1" smtClean="0"/>
              <a:t>dbPath</a:t>
            </a:r>
            <a:r>
              <a:rPr lang="en-US" b="1" dirty="0" smtClean="0"/>
              <a:t>,</a:t>
            </a:r>
            <a:r>
              <a:rPr lang="en-US" b="1" dirty="0" smtClean="0">
                <a:solidFill>
                  <a:srgbClr val="0070C0"/>
                </a:solidFill>
              </a:rPr>
              <a:t> </a:t>
            </a:r>
            <a:r>
              <a:rPr lang="en-US" b="1" dirty="0" smtClean="0">
                <a:solidFill>
                  <a:srgbClr val="FF0000"/>
                </a:solidFill>
              </a:rPr>
              <a:t>'</a:t>
            </a:r>
            <a:r>
              <a:rPr lang="en-US" b="1" dirty="0" err="1" smtClean="0">
                <a:solidFill>
                  <a:srgbClr val="FF0000"/>
                </a:solidFill>
              </a:rPr>
              <a:t>my_app.db</a:t>
            </a:r>
            <a:r>
              <a:rPr lang="en-US" b="1" dirty="0" smtClean="0">
                <a:solidFill>
                  <a:srgbClr val="FF0000"/>
                </a:solidFill>
              </a:rPr>
              <a:t>‘</a:t>
            </a:r>
            <a:r>
              <a:rPr lang="en-US" b="1" dirty="0" smtClean="0"/>
              <a:t>);</a:t>
            </a:r>
            <a:endParaRPr lang="en-US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5486400" y="1237529"/>
            <a:ext cx="29803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0070C0"/>
                </a:solidFill>
              </a:rPr>
              <a:t>return</a:t>
            </a:r>
            <a:r>
              <a:rPr lang="en-US" b="1" dirty="0" smtClean="0"/>
              <a:t> await </a:t>
            </a:r>
            <a:r>
              <a:rPr lang="en-US" b="1" dirty="0" err="1" smtClean="0">
                <a:solidFill>
                  <a:srgbClr val="FF0000"/>
                </a:solidFill>
              </a:rPr>
              <a:t>openDatabase</a:t>
            </a:r>
            <a:r>
              <a:rPr lang="en-US" b="1" dirty="0" smtClean="0">
                <a:solidFill>
                  <a:srgbClr val="FF0000"/>
                </a:solidFill>
              </a:rPr>
              <a:t>(  </a:t>
            </a:r>
          </a:p>
          <a:p>
            <a:r>
              <a:rPr lang="en-US" b="1" dirty="0"/>
              <a:t> </a:t>
            </a:r>
            <a:r>
              <a:rPr lang="en-US" b="1" dirty="0" smtClean="0"/>
              <a:t>     path ,  version :1 </a:t>
            </a:r>
            <a:endParaRPr lang="en-US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5772241" y="1827279"/>
            <a:ext cx="1116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 smtClean="0"/>
              <a:t>onCreate</a:t>
            </a:r>
            <a:r>
              <a:rPr lang="en-US" b="1" dirty="0" smtClean="0"/>
              <a:t>:</a:t>
            </a:r>
            <a:endParaRPr lang="en-US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6770746" y="1827279"/>
            <a:ext cx="1235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_</a:t>
            </a:r>
            <a:r>
              <a:rPr lang="en-US" b="1" dirty="0" err="1" smtClean="0"/>
              <a:t>createDB</a:t>
            </a:r>
            <a:r>
              <a:rPr lang="en-US" b="1" dirty="0" smtClean="0"/>
              <a:t>;</a:t>
            </a:r>
            <a:endParaRPr lang="en-US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5611780" y="2196611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);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645778" y="2565943"/>
            <a:ext cx="2179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}</a:t>
            </a:r>
            <a:endParaRPr lang="en-US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5503046" y="2827764"/>
            <a:ext cx="43958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 </a:t>
            </a:r>
            <a:r>
              <a:rPr lang="en-US" b="1" dirty="0" smtClean="0">
                <a:solidFill>
                  <a:srgbClr val="002060"/>
                </a:solidFill>
              </a:rPr>
              <a:t>_</a:t>
            </a:r>
            <a:r>
              <a:rPr lang="en-US" b="1" dirty="0" err="1" smtClean="0">
                <a:solidFill>
                  <a:srgbClr val="002060"/>
                </a:solidFill>
              </a:rPr>
              <a:t>createDB</a:t>
            </a:r>
            <a:r>
              <a:rPr lang="en-US" b="1" dirty="0" smtClean="0">
                <a:solidFill>
                  <a:srgbClr val="FF0000"/>
                </a:solidFill>
              </a:rPr>
              <a:t>(Database </a:t>
            </a:r>
            <a:r>
              <a:rPr lang="en-US" b="1" dirty="0" err="1" smtClean="0">
                <a:solidFill>
                  <a:srgbClr val="FF0000"/>
                </a:solidFill>
              </a:rPr>
              <a:t>db</a:t>
            </a:r>
            <a:r>
              <a:rPr lang="en-US" b="1" dirty="0" smtClean="0">
                <a:solidFill>
                  <a:srgbClr val="FF0000"/>
                </a:solidFill>
              </a:rPr>
              <a:t>, </a:t>
            </a:r>
            <a:r>
              <a:rPr lang="en-US" b="1" dirty="0" err="1" smtClean="0">
                <a:solidFill>
                  <a:srgbClr val="FF0000"/>
                </a:solidFill>
              </a:rPr>
              <a:t>int</a:t>
            </a:r>
            <a:r>
              <a:rPr lang="en-US" b="1" dirty="0" smtClean="0">
                <a:solidFill>
                  <a:srgbClr val="FF0000"/>
                </a:solidFill>
              </a:rPr>
              <a:t> version)</a:t>
            </a:r>
            <a:r>
              <a:rPr lang="en-US" b="1" dirty="0" smtClean="0"/>
              <a:t> </a:t>
            </a:r>
            <a:r>
              <a:rPr lang="en-US" b="1" dirty="0" err="1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async</a:t>
            </a:r>
            <a:r>
              <a:rPr lang="en-US" b="1" dirty="0" smtClean="0"/>
              <a:t> {</a:t>
            </a:r>
            <a:endParaRPr lang="en-US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5894210" y="3181163"/>
            <a:ext cx="58295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String query= </a:t>
            </a:r>
            <a:r>
              <a:rPr lang="en-US" dirty="0">
                <a:solidFill>
                  <a:srgbClr val="FF0000"/>
                </a:solidFill>
              </a:rPr>
              <a:t>''' </a:t>
            </a:r>
            <a:r>
              <a:rPr lang="en-US" dirty="0">
                <a:solidFill>
                  <a:schemeClr val="accent5"/>
                </a:solidFill>
              </a:rPr>
              <a:t>CREATE TABLE users </a:t>
            </a:r>
            <a:r>
              <a:rPr lang="en-US" dirty="0"/>
              <a:t>( </a:t>
            </a:r>
          </a:p>
          <a:p>
            <a:r>
              <a:rPr lang="en-US" dirty="0">
                <a:solidFill>
                  <a:srgbClr val="C00000"/>
                </a:solidFill>
              </a:rPr>
              <a:t>id INTEGER PRIMARY KEY AUTOINCREMENT</a:t>
            </a:r>
            <a:r>
              <a:rPr lang="en-US" dirty="0">
                <a:solidFill>
                  <a:srgbClr val="FF0000"/>
                </a:solidFill>
              </a:rPr>
              <a:t>,</a:t>
            </a:r>
          </a:p>
          <a:p>
            <a:r>
              <a:rPr lang="en-US" dirty="0">
                <a:solidFill>
                  <a:srgbClr val="C00000"/>
                </a:solidFill>
              </a:rPr>
              <a:t>        name TEXT NOT NULL</a:t>
            </a:r>
          </a:p>
          <a:p>
            <a:r>
              <a:rPr lang="en-US" dirty="0"/>
              <a:t>      </a:t>
            </a:r>
            <a:r>
              <a:rPr lang="en-US" dirty="0" smtClean="0"/>
              <a:t>)  </a:t>
            </a:r>
            <a:r>
              <a:rPr lang="en-US" dirty="0" smtClean="0">
                <a:solidFill>
                  <a:srgbClr val="FF0000"/>
                </a:solidFill>
              </a:rPr>
              <a:t>''‘ ;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894210" y="4348446"/>
            <a:ext cx="2631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await</a:t>
            </a:r>
            <a:r>
              <a:rPr lang="en-US" b="1" dirty="0" smtClean="0">
                <a:solidFill>
                  <a:srgbClr val="002060"/>
                </a:solidFill>
              </a:rPr>
              <a:t> </a:t>
            </a:r>
            <a:r>
              <a:rPr lang="en-US" b="1" dirty="0" err="1" smtClean="0">
                <a:solidFill>
                  <a:schemeClr val="accent1">
                    <a:lumMod val="75000"/>
                  </a:schemeClr>
                </a:solidFill>
              </a:rPr>
              <a:t>db</a:t>
            </a:r>
            <a:r>
              <a:rPr lang="en-US" b="1" dirty="0" err="1" smtClean="0">
                <a:solidFill>
                  <a:srgbClr val="002060"/>
                </a:solidFill>
              </a:rPr>
              <a:t>.execute</a:t>
            </a:r>
            <a:r>
              <a:rPr lang="en-US" b="1" dirty="0" smtClean="0">
                <a:solidFill>
                  <a:srgbClr val="002060"/>
                </a:solidFill>
              </a:rPr>
              <a:t>(</a:t>
            </a:r>
            <a:r>
              <a:rPr lang="en-US" b="1" dirty="0" smtClean="0">
                <a:solidFill>
                  <a:srgbClr val="FF0000"/>
                </a:solidFill>
              </a:rPr>
              <a:t>query</a:t>
            </a:r>
            <a:r>
              <a:rPr lang="en-US" b="1" dirty="0" smtClean="0">
                <a:solidFill>
                  <a:srgbClr val="002060"/>
                </a:solidFill>
              </a:rPr>
              <a:t>);</a:t>
            </a:r>
            <a:endParaRPr lang="en-US" b="1" dirty="0"/>
          </a:p>
        </p:txBody>
      </p:sp>
      <p:sp>
        <p:nvSpPr>
          <p:cNvPr id="36" name="TextBox 35"/>
          <p:cNvSpPr txBox="1"/>
          <p:nvPr/>
        </p:nvSpPr>
        <p:spPr>
          <a:xfrm>
            <a:off x="5561255" y="4734891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 </a:t>
            </a:r>
            <a:r>
              <a:rPr lang="en-US" b="1" dirty="0"/>
              <a:t>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08494" y="4984412"/>
            <a:ext cx="45830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 </a:t>
            </a:r>
            <a:r>
              <a:rPr lang="en-US" b="1" dirty="0" smtClean="0">
                <a:solidFill>
                  <a:srgbClr val="002060"/>
                </a:solidFill>
              </a:rPr>
              <a:t>Future&lt;void&gt; </a:t>
            </a:r>
            <a:r>
              <a:rPr lang="en-US" b="1" dirty="0" err="1" smtClean="0">
                <a:solidFill>
                  <a:srgbClr val="002060"/>
                </a:solidFill>
              </a:rPr>
              <a:t>insertData</a:t>
            </a:r>
            <a:r>
              <a:rPr lang="en-US" b="1" dirty="0" smtClean="0">
                <a:solidFill>
                  <a:srgbClr val="FF0000"/>
                </a:solidFill>
              </a:rPr>
              <a:t>(String query)</a:t>
            </a:r>
            <a:r>
              <a:rPr lang="en-US" b="1" dirty="0" smtClean="0"/>
              <a:t> </a:t>
            </a:r>
            <a:r>
              <a:rPr lang="en-US" b="1" dirty="0" err="1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async</a:t>
            </a:r>
            <a:r>
              <a:rPr lang="en-US" b="1" dirty="0" smtClean="0"/>
              <a:t> {</a:t>
            </a:r>
            <a:endParaRPr lang="en-US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5561255" y="5348176"/>
            <a:ext cx="4315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 </a:t>
            </a:r>
            <a:r>
              <a:rPr lang="en-US" b="1" dirty="0" smtClean="0">
                <a:solidFill>
                  <a:srgbClr val="002060"/>
                </a:solidFill>
              </a:rPr>
              <a:t>Database </a:t>
            </a:r>
            <a:r>
              <a:rPr lang="en-US" b="1" dirty="0" err="1" smtClean="0">
                <a:solidFill>
                  <a:srgbClr val="002060"/>
                </a:solidFill>
              </a:rPr>
              <a:t>db</a:t>
            </a:r>
            <a:r>
              <a:rPr lang="en-US" b="1" dirty="0" smtClean="0">
                <a:solidFill>
                  <a:srgbClr val="002060"/>
                </a:solidFill>
              </a:rPr>
              <a:t>=await database; // call getter</a:t>
            </a:r>
            <a:endParaRPr lang="en-US" b="1" dirty="0"/>
          </a:p>
        </p:txBody>
      </p:sp>
      <p:sp>
        <p:nvSpPr>
          <p:cNvPr id="39" name="TextBox 38"/>
          <p:cNvSpPr txBox="1"/>
          <p:nvPr/>
        </p:nvSpPr>
        <p:spPr>
          <a:xfrm>
            <a:off x="5648582" y="5631418"/>
            <a:ext cx="2752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await </a:t>
            </a:r>
            <a:r>
              <a:rPr lang="en-US" b="1" dirty="0" err="1" smtClean="0">
                <a:solidFill>
                  <a:srgbClr val="002060"/>
                </a:solidFill>
              </a:rPr>
              <a:t>db.rawInsert</a:t>
            </a:r>
            <a:r>
              <a:rPr lang="en-US" b="1" dirty="0" smtClean="0">
                <a:solidFill>
                  <a:srgbClr val="002060"/>
                </a:solidFill>
              </a:rPr>
              <a:t>(query);</a:t>
            </a:r>
            <a:endParaRPr lang="en-US" b="1" dirty="0"/>
          </a:p>
        </p:txBody>
      </p:sp>
      <p:sp>
        <p:nvSpPr>
          <p:cNvPr id="40" name="TextBox 39"/>
          <p:cNvSpPr txBox="1"/>
          <p:nvPr/>
        </p:nvSpPr>
        <p:spPr>
          <a:xfrm>
            <a:off x="5634589" y="5909092"/>
            <a:ext cx="264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96993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6" grpId="0"/>
      <p:bldP spid="9" grpId="0"/>
      <p:bldP spid="8" grpId="0"/>
      <p:bldP spid="2" grpId="0"/>
      <p:bldP spid="3" grpId="0" animBg="1"/>
      <p:bldP spid="5" grpId="0" animBg="1"/>
      <p:bldP spid="11" grpId="0"/>
      <p:bldP spid="12" grpId="0" animBg="1"/>
      <p:bldP spid="13" grpId="0"/>
      <p:bldP spid="14" grpId="0"/>
      <p:bldP spid="15" grpId="0"/>
      <p:bldP spid="16" grpId="0"/>
      <p:bldP spid="17" grpId="0"/>
      <p:bldP spid="18" grpId="0"/>
      <p:bldP spid="22" grpId="0"/>
      <p:bldP spid="24" grpId="0"/>
      <p:bldP spid="25" grpId="0"/>
      <p:bldP spid="26" grpId="0"/>
      <p:bldP spid="28" grpId="0"/>
      <p:bldP spid="29" grpId="0"/>
      <p:bldP spid="30" grpId="0"/>
      <p:bldP spid="31" grpId="0"/>
      <p:bldP spid="32" grpId="0"/>
      <p:bldP spid="33" grpId="0"/>
      <p:bldP spid="35" grpId="0"/>
      <p:bldP spid="36" grpId="0"/>
      <p:bldP spid="37" grpId="0"/>
      <p:bldP spid="38" grpId="0"/>
      <p:bldP spid="39" grpId="0"/>
      <p:bldP spid="4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9668" y="95794"/>
            <a:ext cx="2926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c</a:t>
            </a:r>
            <a:r>
              <a:rPr lang="en-US" sz="2000" b="1" dirty="0" smtClean="0">
                <a:solidFill>
                  <a:srgbClr val="FF0000"/>
                </a:solidFill>
              </a:rPr>
              <a:t>lass </a:t>
            </a:r>
            <a:r>
              <a:rPr lang="en-US" sz="2000" b="1" dirty="0" err="1" smtClean="0">
                <a:solidFill>
                  <a:srgbClr val="FF0000"/>
                </a:solidFill>
              </a:rPr>
              <a:t>DBHelper</a:t>
            </a:r>
            <a:r>
              <a:rPr lang="en-US" sz="2000" b="1" dirty="0" smtClean="0">
                <a:solidFill>
                  <a:srgbClr val="FF0000"/>
                </a:solidFill>
              </a:rPr>
              <a:t> {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752157" y="6431654"/>
            <a:ext cx="4072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</a:rPr>
              <a:t>}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71565" y="1208798"/>
            <a:ext cx="4511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>
                <a:solidFill>
                  <a:srgbClr val="00B050"/>
                </a:solidFill>
              </a:rPr>
              <a:t>DBHelper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._</a:t>
            </a:r>
            <a:r>
              <a:rPr lang="en-US" b="1" dirty="0" err="1" smtClean="0">
                <a:solidFill>
                  <a:schemeClr val="accent1">
                    <a:lumMod val="75000"/>
                  </a:schemeClr>
                </a:solidFill>
              </a:rPr>
              <a:t>init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( ); </a:t>
            </a:r>
            <a:r>
              <a:rPr lang="en-US" b="1" dirty="0" smtClean="0">
                <a:solidFill>
                  <a:srgbClr val="00B050"/>
                </a:solidFill>
              </a:rPr>
              <a:t>// private constructor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71565" y="599458"/>
            <a:ext cx="2624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B050"/>
                </a:solidFill>
              </a:rPr>
              <a:t>Database ? </a:t>
            </a:r>
            <a:r>
              <a:rPr lang="en-US" b="1" dirty="0" smtClean="0"/>
              <a:t>_database</a:t>
            </a:r>
            <a:r>
              <a:rPr lang="en-US" b="1" dirty="0" smtClean="0">
                <a:solidFill>
                  <a:srgbClr val="00B050"/>
                </a:solidFill>
              </a:rPr>
              <a:t>; 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71565" y="1809567"/>
            <a:ext cx="4511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B050"/>
                </a:solidFill>
              </a:rPr>
              <a:t>static </a:t>
            </a:r>
            <a:r>
              <a:rPr lang="en-US" b="1" dirty="0" err="1" smtClean="0"/>
              <a:t>DBHelper</a:t>
            </a:r>
            <a:r>
              <a:rPr lang="en-US" b="1" dirty="0" smtClean="0"/>
              <a:t> instance</a:t>
            </a:r>
            <a:r>
              <a:rPr lang="en-US" b="1" dirty="0" smtClean="0">
                <a:solidFill>
                  <a:schemeClr val="accent2"/>
                </a:solidFill>
              </a:rPr>
              <a:t>=</a:t>
            </a:r>
            <a:r>
              <a:rPr lang="en-US" b="1" dirty="0" err="1" smtClean="0"/>
              <a:t>DBHelper</a:t>
            </a:r>
            <a:r>
              <a:rPr lang="en-US" b="1" dirty="0" smtClean="0">
                <a:solidFill>
                  <a:srgbClr val="FF0000"/>
                </a:solidFill>
              </a:rPr>
              <a:t>._</a:t>
            </a:r>
            <a:r>
              <a:rPr lang="en-US" b="1" dirty="0" err="1" smtClean="0">
                <a:solidFill>
                  <a:srgbClr val="FF0000"/>
                </a:solidFill>
              </a:rPr>
              <a:t>init</a:t>
            </a:r>
            <a:r>
              <a:rPr lang="en-US" b="1" dirty="0" smtClean="0">
                <a:solidFill>
                  <a:srgbClr val="FF0000"/>
                </a:solidFill>
              </a:rPr>
              <a:t>(); 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77795" y="4233131"/>
            <a:ext cx="997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instance</a:t>
            </a:r>
            <a:endParaRPr lang="en-US" b="1" dirty="0"/>
          </a:p>
        </p:txBody>
      </p:sp>
      <p:sp>
        <p:nvSpPr>
          <p:cNvPr id="3" name="Rectangle 2"/>
          <p:cNvSpPr/>
          <p:nvPr/>
        </p:nvSpPr>
        <p:spPr>
          <a:xfrm>
            <a:off x="177795" y="4633241"/>
            <a:ext cx="1856506" cy="4000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A12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77794" y="5522792"/>
            <a:ext cx="1856507" cy="8220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24159" y="5211020"/>
            <a:ext cx="997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A12</a:t>
            </a:r>
            <a:endParaRPr lang="en-US" b="1" dirty="0"/>
          </a:p>
        </p:txBody>
      </p:sp>
      <p:sp>
        <p:nvSpPr>
          <p:cNvPr id="12" name="Rectangle 11"/>
          <p:cNvSpPr/>
          <p:nvPr/>
        </p:nvSpPr>
        <p:spPr>
          <a:xfrm>
            <a:off x="362521" y="5758108"/>
            <a:ext cx="1302327" cy="55812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null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424866" y="5484564"/>
            <a:ext cx="1239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database</a:t>
            </a:r>
            <a:endParaRPr lang="en-US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371565" y="2309497"/>
            <a:ext cx="3960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Future&lt;</a:t>
            </a:r>
            <a:r>
              <a:rPr lang="en-US" b="1" dirty="0">
                <a:solidFill>
                  <a:srgbClr val="FF0000"/>
                </a:solidFill>
              </a:rPr>
              <a:t>D</a:t>
            </a:r>
            <a:r>
              <a:rPr lang="en-US" b="1" dirty="0" smtClean="0">
                <a:solidFill>
                  <a:srgbClr val="FF0000"/>
                </a:solidFill>
              </a:rPr>
              <a:t>atabase</a:t>
            </a:r>
            <a:r>
              <a:rPr lang="en-US" b="1" dirty="0" smtClean="0"/>
              <a:t>&gt; </a:t>
            </a:r>
            <a:r>
              <a:rPr lang="en-US" b="1" dirty="0" smtClean="0">
                <a:solidFill>
                  <a:srgbClr val="002060"/>
                </a:solidFill>
              </a:rPr>
              <a:t>get</a:t>
            </a:r>
            <a:r>
              <a:rPr lang="en-US" b="1" dirty="0" smtClean="0"/>
              <a:t>  database </a:t>
            </a:r>
            <a:r>
              <a:rPr lang="en-US" b="1" dirty="0" err="1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async</a:t>
            </a:r>
            <a:r>
              <a:rPr lang="en-US" b="1" dirty="0" smtClean="0"/>
              <a:t> {</a:t>
            </a:r>
            <a:endParaRPr lang="en-US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505492" y="2678829"/>
            <a:ext cx="3934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if (</a:t>
            </a:r>
            <a:r>
              <a:rPr lang="en-US" b="1" dirty="0" smtClean="0">
                <a:solidFill>
                  <a:srgbClr val="FF0000"/>
                </a:solidFill>
              </a:rPr>
              <a:t>_database!=null</a:t>
            </a:r>
            <a:r>
              <a:rPr lang="en-US" b="1" dirty="0" smtClean="0"/>
              <a:t>)</a:t>
            </a:r>
            <a:r>
              <a:rPr lang="en-US" b="1" dirty="0" smtClean="0">
                <a:solidFill>
                  <a:schemeClr val="accent5"/>
                </a:solidFill>
              </a:rPr>
              <a:t> return </a:t>
            </a:r>
            <a:r>
              <a:rPr lang="en-US" b="1" dirty="0" smtClean="0"/>
              <a:t>_database</a:t>
            </a:r>
            <a:r>
              <a:rPr lang="en-US" b="1" dirty="0" smtClean="0">
                <a:solidFill>
                  <a:srgbClr val="FF0000"/>
                </a:solidFill>
              </a:rPr>
              <a:t>!</a:t>
            </a:r>
            <a:r>
              <a:rPr lang="en-US" b="1" dirty="0" smtClean="0"/>
              <a:t>;</a:t>
            </a:r>
            <a:endParaRPr lang="en-US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523714" y="3124257"/>
            <a:ext cx="3393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_database=</a:t>
            </a:r>
            <a:r>
              <a:rPr lang="en-US" b="1" dirty="0" smtClean="0">
                <a:solidFill>
                  <a:srgbClr val="0070C0"/>
                </a:solidFill>
              </a:rPr>
              <a:t>await</a:t>
            </a:r>
            <a:r>
              <a:rPr lang="en-US" b="1" dirty="0" smtClean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_</a:t>
            </a:r>
            <a:r>
              <a:rPr lang="en-US" b="1" dirty="0" err="1" smtClean="0">
                <a:solidFill>
                  <a:srgbClr val="FF0000"/>
                </a:solidFill>
              </a:rPr>
              <a:t>initializedDB</a:t>
            </a:r>
            <a:r>
              <a:rPr lang="en-US" b="1" dirty="0" smtClean="0">
                <a:solidFill>
                  <a:srgbClr val="FF0000"/>
                </a:solidFill>
              </a:rPr>
              <a:t>();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5492" y="3548313"/>
            <a:ext cx="20179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accent5"/>
                </a:solidFill>
              </a:rPr>
              <a:t> return </a:t>
            </a:r>
            <a:r>
              <a:rPr lang="en-US" b="1" dirty="0" smtClean="0"/>
              <a:t>_database</a:t>
            </a:r>
            <a:r>
              <a:rPr lang="en-US" b="1" dirty="0" smtClean="0">
                <a:solidFill>
                  <a:srgbClr val="FF0000"/>
                </a:solidFill>
              </a:rPr>
              <a:t>!</a:t>
            </a:r>
            <a:r>
              <a:rPr lang="en-US" b="1" dirty="0" smtClean="0"/>
              <a:t>;</a:t>
            </a:r>
            <a:endParaRPr lang="en-US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523714" y="3929498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accent5"/>
                </a:solidFill>
              </a:rPr>
              <a:t> </a:t>
            </a:r>
            <a:r>
              <a:rPr lang="en-US" b="1" dirty="0" smtClean="0"/>
              <a:t>}</a:t>
            </a:r>
            <a:endParaRPr lang="en-US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5449455" y="84508"/>
            <a:ext cx="3874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Future&lt;</a:t>
            </a:r>
            <a:r>
              <a:rPr lang="en-US" b="1" dirty="0">
                <a:solidFill>
                  <a:srgbClr val="FF0000"/>
                </a:solidFill>
              </a:rPr>
              <a:t>D</a:t>
            </a:r>
            <a:r>
              <a:rPr lang="en-US" b="1" dirty="0" smtClean="0">
                <a:solidFill>
                  <a:srgbClr val="FF0000"/>
                </a:solidFill>
              </a:rPr>
              <a:t>atabase</a:t>
            </a:r>
            <a:r>
              <a:rPr lang="en-US" b="1" dirty="0" smtClean="0"/>
              <a:t>&gt; </a:t>
            </a:r>
            <a:r>
              <a:rPr lang="en-US" b="1" dirty="0" smtClean="0"/>
              <a:t>_</a:t>
            </a:r>
            <a:r>
              <a:rPr lang="en-US" b="1" dirty="0" err="1" smtClean="0">
                <a:solidFill>
                  <a:srgbClr val="002060"/>
                </a:solidFill>
              </a:rPr>
              <a:t>initializeDB</a:t>
            </a:r>
            <a:r>
              <a:rPr lang="en-US" b="1" dirty="0" smtClean="0"/>
              <a:t> </a:t>
            </a:r>
            <a:r>
              <a:rPr lang="en-US" b="1" dirty="0" err="1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async</a:t>
            </a:r>
            <a:r>
              <a:rPr lang="en-US" b="1" dirty="0" smtClean="0"/>
              <a:t> {</a:t>
            </a:r>
            <a:endParaRPr lang="en-US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5432809" y="453840"/>
            <a:ext cx="41581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String </a:t>
            </a:r>
            <a:r>
              <a:rPr lang="en-US" b="1" dirty="0" err="1" smtClean="0"/>
              <a:t>dbPath</a:t>
            </a:r>
            <a:r>
              <a:rPr lang="en-US" b="1" dirty="0" smtClean="0"/>
              <a:t>=</a:t>
            </a:r>
            <a:r>
              <a:rPr lang="en-US" b="1" dirty="0" smtClean="0">
                <a:solidFill>
                  <a:srgbClr val="0070C0"/>
                </a:solidFill>
              </a:rPr>
              <a:t>await</a:t>
            </a:r>
            <a:r>
              <a:rPr lang="en-US" b="1" dirty="0" smtClean="0"/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getDatabasesPath</a:t>
            </a:r>
            <a:r>
              <a:rPr lang="en-US" b="1" dirty="0" smtClean="0">
                <a:solidFill>
                  <a:srgbClr val="FF0000"/>
                </a:solidFill>
              </a:rPr>
              <a:t>( );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86400" y="839466"/>
            <a:ext cx="3902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String path=</a:t>
            </a:r>
            <a:r>
              <a:rPr lang="en-US" b="1" dirty="0" smtClean="0">
                <a:solidFill>
                  <a:srgbClr val="0070C0"/>
                </a:solidFill>
              </a:rPr>
              <a:t>join</a:t>
            </a:r>
            <a:r>
              <a:rPr lang="en-US" b="1" dirty="0" smtClean="0"/>
              <a:t>(</a:t>
            </a:r>
            <a:r>
              <a:rPr lang="en-US" b="1" dirty="0" err="1" smtClean="0"/>
              <a:t>dbPath</a:t>
            </a:r>
            <a:r>
              <a:rPr lang="en-US" b="1" dirty="0" smtClean="0"/>
              <a:t>,</a:t>
            </a:r>
            <a:r>
              <a:rPr lang="en-US" b="1" dirty="0" smtClean="0">
                <a:solidFill>
                  <a:srgbClr val="0070C0"/>
                </a:solidFill>
              </a:rPr>
              <a:t> </a:t>
            </a:r>
            <a:r>
              <a:rPr lang="en-US" b="1" dirty="0" smtClean="0">
                <a:solidFill>
                  <a:srgbClr val="FF0000"/>
                </a:solidFill>
              </a:rPr>
              <a:t>'</a:t>
            </a:r>
            <a:r>
              <a:rPr lang="en-US" b="1" dirty="0" err="1" smtClean="0">
                <a:solidFill>
                  <a:srgbClr val="FF0000"/>
                </a:solidFill>
              </a:rPr>
              <a:t>my_app.db</a:t>
            </a:r>
            <a:r>
              <a:rPr lang="en-US" b="1" dirty="0" smtClean="0">
                <a:solidFill>
                  <a:srgbClr val="FF0000"/>
                </a:solidFill>
              </a:rPr>
              <a:t>‘</a:t>
            </a:r>
            <a:r>
              <a:rPr lang="en-US" b="1" dirty="0" smtClean="0"/>
              <a:t>);</a:t>
            </a:r>
            <a:endParaRPr lang="en-US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5486400" y="1237529"/>
            <a:ext cx="29803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0070C0"/>
                </a:solidFill>
              </a:rPr>
              <a:t>return</a:t>
            </a:r>
            <a:r>
              <a:rPr lang="en-US" b="1" dirty="0" smtClean="0"/>
              <a:t> await </a:t>
            </a:r>
            <a:r>
              <a:rPr lang="en-US" b="1" dirty="0" err="1" smtClean="0">
                <a:solidFill>
                  <a:srgbClr val="FF0000"/>
                </a:solidFill>
              </a:rPr>
              <a:t>openDatabase</a:t>
            </a:r>
            <a:r>
              <a:rPr lang="en-US" b="1" dirty="0" smtClean="0">
                <a:solidFill>
                  <a:srgbClr val="FF0000"/>
                </a:solidFill>
              </a:rPr>
              <a:t>(  </a:t>
            </a:r>
          </a:p>
          <a:p>
            <a:r>
              <a:rPr lang="en-US" b="1" dirty="0"/>
              <a:t> </a:t>
            </a:r>
            <a:r>
              <a:rPr lang="en-US" b="1" dirty="0" smtClean="0"/>
              <a:t>     path ,  version :1 </a:t>
            </a:r>
            <a:endParaRPr lang="en-US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5772241" y="1827279"/>
            <a:ext cx="1116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 smtClean="0"/>
              <a:t>onCreate</a:t>
            </a:r>
            <a:r>
              <a:rPr lang="en-US" b="1" dirty="0" smtClean="0"/>
              <a:t>:</a:t>
            </a:r>
            <a:endParaRPr lang="en-US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6770746" y="1827279"/>
            <a:ext cx="1235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_</a:t>
            </a:r>
            <a:r>
              <a:rPr lang="en-US" b="1" dirty="0" err="1" smtClean="0"/>
              <a:t>createDB</a:t>
            </a:r>
            <a:r>
              <a:rPr lang="en-US" b="1" dirty="0" smtClean="0"/>
              <a:t>;</a:t>
            </a:r>
            <a:endParaRPr lang="en-US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5611780" y="2196611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);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645778" y="2565943"/>
            <a:ext cx="2179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}</a:t>
            </a:r>
            <a:endParaRPr lang="en-US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5503046" y="2827764"/>
            <a:ext cx="43958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 </a:t>
            </a:r>
            <a:r>
              <a:rPr lang="en-US" b="1" dirty="0" smtClean="0">
                <a:solidFill>
                  <a:srgbClr val="002060"/>
                </a:solidFill>
              </a:rPr>
              <a:t>_</a:t>
            </a:r>
            <a:r>
              <a:rPr lang="en-US" b="1" dirty="0" err="1" smtClean="0">
                <a:solidFill>
                  <a:srgbClr val="002060"/>
                </a:solidFill>
              </a:rPr>
              <a:t>createDB</a:t>
            </a:r>
            <a:r>
              <a:rPr lang="en-US" b="1" dirty="0" smtClean="0">
                <a:solidFill>
                  <a:srgbClr val="FF0000"/>
                </a:solidFill>
              </a:rPr>
              <a:t>(Database </a:t>
            </a:r>
            <a:r>
              <a:rPr lang="en-US" b="1" dirty="0" err="1" smtClean="0">
                <a:solidFill>
                  <a:srgbClr val="FF0000"/>
                </a:solidFill>
              </a:rPr>
              <a:t>db</a:t>
            </a:r>
            <a:r>
              <a:rPr lang="en-US" b="1" dirty="0" smtClean="0">
                <a:solidFill>
                  <a:srgbClr val="FF0000"/>
                </a:solidFill>
              </a:rPr>
              <a:t>, </a:t>
            </a:r>
            <a:r>
              <a:rPr lang="en-US" b="1" dirty="0" err="1" smtClean="0">
                <a:solidFill>
                  <a:srgbClr val="FF0000"/>
                </a:solidFill>
              </a:rPr>
              <a:t>int</a:t>
            </a:r>
            <a:r>
              <a:rPr lang="en-US" b="1" dirty="0" smtClean="0">
                <a:solidFill>
                  <a:srgbClr val="FF0000"/>
                </a:solidFill>
              </a:rPr>
              <a:t> version)</a:t>
            </a:r>
            <a:r>
              <a:rPr lang="en-US" b="1" dirty="0" smtClean="0"/>
              <a:t> </a:t>
            </a:r>
            <a:r>
              <a:rPr lang="en-US" b="1" dirty="0" err="1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async</a:t>
            </a:r>
            <a:r>
              <a:rPr lang="en-US" b="1" dirty="0" smtClean="0"/>
              <a:t> {</a:t>
            </a:r>
            <a:endParaRPr lang="en-US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5894210" y="3181163"/>
            <a:ext cx="58295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String query= </a:t>
            </a:r>
            <a:r>
              <a:rPr lang="en-US" dirty="0">
                <a:solidFill>
                  <a:srgbClr val="FF0000"/>
                </a:solidFill>
              </a:rPr>
              <a:t>''' </a:t>
            </a:r>
            <a:r>
              <a:rPr lang="en-US" dirty="0">
                <a:solidFill>
                  <a:schemeClr val="accent5"/>
                </a:solidFill>
              </a:rPr>
              <a:t>CREATE TABLE users </a:t>
            </a:r>
            <a:r>
              <a:rPr lang="en-US" dirty="0"/>
              <a:t>( </a:t>
            </a:r>
          </a:p>
          <a:p>
            <a:r>
              <a:rPr lang="en-US" dirty="0">
                <a:solidFill>
                  <a:srgbClr val="C00000"/>
                </a:solidFill>
              </a:rPr>
              <a:t>id INTEGER PRIMARY KEY AUTOINCREMENT</a:t>
            </a:r>
            <a:r>
              <a:rPr lang="en-US" dirty="0">
                <a:solidFill>
                  <a:srgbClr val="FF0000"/>
                </a:solidFill>
              </a:rPr>
              <a:t>,</a:t>
            </a:r>
          </a:p>
          <a:p>
            <a:r>
              <a:rPr lang="en-US" dirty="0">
                <a:solidFill>
                  <a:srgbClr val="C00000"/>
                </a:solidFill>
              </a:rPr>
              <a:t>        name TEXT NOT NULL</a:t>
            </a:r>
          </a:p>
          <a:p>
            <a:r>
              <a:rPr lang="en-US" dirty="0"/>
              <a:t>      </a:t>
            </a:r>
            <a:r>
              <a:rPr lang="en-US" dirty="0" smtClean="0"/>
              <a:t>)  </a:t>
            </a:r>
            <a:r>
              <a:rPr lang="en-US" dirty="0" smtClean="0">
                <a:solidFill>
                  <a:srgbClr val="FF0000"/>
                </a:solidFill>
              </a:rPr>
              <a:t>''‘ ;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894210" y="4348446"/>
            <a:ext cx="2631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await</a:t>
            </a:r>
            <a:r>
              <a:rPr lang="en-US" b="1" dirty="0" smtClean="0">
                <a:solidFill>
                  <a:srgbClr val="002060"/>
                </a:solidFill>
              </a:rPr>
              <a:t> </a:t>
            </a:r>
            <a:r>
              <a:rPr lang="en-US" b="1" dirty="0" err="1" smtClean="0">
                <a:solidFill>
                  <a:schemeClr val="accent1">
                    <a:lumMod val="75000"/>
                  </a:schemeClr>
                </a:solidFill>
              </a:rPr>
              <a:t>db</a:t>
            </a:r>
            <a:r>
              <a:rPr lang="en-US" b="1" dirty="0" err="1" smtClean="0">
                <a:solidFill>
                  <a:srgbClr val="002060"/>
                </a:solidFill>
              </a:rPr>
              <a:t>.execute</a:t>
            </a:r>
            <a:r>
              <a:rPr lang="en-US" b="1" dirty="0" smtClean="0">
                <a:solidFill>
                  <a:srgbClr val="002060"/>
                </a:solidFill>
              </a:rPr>
              <a:t>(</a:t>
            </a:r>
            <a:r>
              <a:rPr lang="en-US" b="1" dirty="0" smtClean="0">
                <a:solidFill>
                  <a:srgbClr val="FF0000"/>
                </a:solidFill>
              </a:rPr>
              <a:t>query</a:t>
            </a:r>
            <a:r>
              <a:rPr lang="en-US" b="1" dirty="0" smtClean="0">
                <a:solidFill>
                  <a:srgbClr val="002060"/>
                </a:solidFill>
              </a:rPr>
              <a:t>);</a:t>
            </a:r>
            <a:endParaRPr lang="en-US" b="1" dirty="0"/>
          </a:p>
        </p:txBody>
      </p:sp>
      <p:sp>
        <p:nvSpPr>
          <p:cNvPr id="36" name="TextBox 35"/>
          <p:cNvSpPr txBox="1"/>
          <p:nvPr/>
        </p:nvSpPr>
        <p:spPr>
          <a:xfrm>
            <a:off x="5561255" y="4734891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 </a:t>
            </a:r>
            <a:r>
              <a:rPr lang="en-US" b="1" dirty="0"/>
              <a:t>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08494" y="4984412"/>
            <a:ext cx="45830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 </a:t>
            </a:r>
            <a:r>
              <a:rPr lang="en-US" b="1" dirty="0" smtClean="0">
                <a:solidFill>
                  <a:srgbClr val="002060"/>
                </a:solidFill>
              </a:rPr>
              <a:t>Future&lt;void&gt; </a:t>
            </a:r>
            <a:r>
              <a:rPr lang="en-US" b="1" dirty="0" err="1" smtClean="0">
                <a:solidFill>
                  <a:srgbClr val="002060"/>
                </a:solidFill>
              </a:rPr>
              <a:t>insertData</a:t>
            </a:r>
            <a:r>
              <a:rPr lang="en-US" b="1" dirty="0" smtClean="0">
                <a:solidFill>
                  <a:srgbClr val="FF0000"/>
                </a:solidFill>
              </a:rPr>
              <a:t>(String query)</a:t>
            </a:r>
            <a:r>
              <a:rPr lang="en-US" b="1" dirty="0" smtClean="0"/>
              <a:t> </a:t>
            </a:r>
            <a:r>
              <a:rPr lang="en-US" b="1" dirty="0" err="1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async</a:t>
            </a:r>
            <a:r>
              <a:rPr lang="en-US" b="1" dirty="0" smtClean="0"/>
              <a:t> {</a:t>
            </a:r>
            <a:endParaRPr lang="en-US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5561255" y="5348176"/>
            <a:ext cx="4315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 </a:t>
            </a:r>
            <a:r>
              <a:rPr lang="en-US" b="1" dirty="0" smtClean="0">
                <a:solidFill>
                  <a:srgbClr val="002060"/>
                </a:solidFill>
              </a:rPr>
              <a:t>Database </a:t>
            </a:r>
            <a:r>
              <a:rPr lang="en-US" b="1" dirty="0" err="1" smtClean="0">
                <a:solidFill>
                  <a:srgbClr val="002060"/>
                </a:solidFill>
              </a:rPr>
              <a:t>db</a:t>
            </a:r>
            <a:r>
              <a:rPr lang="en-US" b="1" dirty="0" smtClean="0">
                <a:solidFill>
                  <a:srgbClr val="002060"/>
                </a:solidFill>
              </a:rPr>
              <a:t>=await database; // call getter</a:t>
            </a:r>
            <a:endParaRPr lang="en-US" b="1" dirty="0"/>
          </a:p>
        </p:txBody>
      </p:sp>
      <p:sp>
        <p:nvSpPr>
          <p:cNvPr id="39" name="TextBox 38"/>
          <p:cNvSpPr txBox="1"/>
          <p:nvPr/>
        </p:nvSpPr>
        <p:spPr>
          <a:xfrm>
            <a:off x="5648582" y="5631418"/>
            <a:ext cx="2752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await </a:t>
            </a:r>
            <a:r>
              <a:rPr lang="en-US" b="1" dirty="0" err="1" smtClean="0">
                <a:solidFill>
                  <a:srgbClr val="002060"/>
                </a:solidFill>
              </a:rPr>
              <a:t>db.rawInsert</a:t>
            </a:r>
            <a:r>
              <a:rPr lang="en-US" b="1" dirty="0" smtClean="0">
                <a:solidFill>
                  <a:srgbClr val="002060"/>
                </a:solidFill>
              </a:rPr>
              <a:t>(query);</a:t>
            </a:r>
            <a:endParaRPr lang="en-US" b="1" dirty="0"/>
          </a:p>
        </p:txBody>
      </p:sp>
      <p:sp>
        <p:nvSpPr>
          <p:cNvPr id="40" name="TextBox 39"/>
          <p:cNvSpPr txBox="1"/>
          <p:nvPr/>
        </p:nvSpPr>
        <p:spPr>
          <a:xfrm>
            <a:off x="5634589" y="5909092"/>
            <a:ext cx="264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5232" y="4147447"/>
            <a:ext cx="3301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DBHelper.</a:t>
            </a:r>
            <a:r>
              <a:rPr lang="en-US" dirty="0" err="1" smtClean="0">
                <a:solidFill>
                  <a:srgbClr val="FF0000"/>
                </a:solidFill>
              </a:rPr>
              <a:t>instance.</a:t>
            </a:r>
            <a:r>
              <a:rPr lang="en-US" dirty="0" err="1" smtClean="0"/>
              <a:t>insertData</a:t>
            </a:r>
            <a:r>
              <a:rPr lang="en-US" dirty="0" smtClean="0"/>
              <a:t>(‘ ‘);</a:t>
            </a:r>
            <a:endParaRPr lang="en-US" dirty="0"/>
          </a:p>
        </p:txBody>
      </p:sp>
      <p:cxnSp>
        <p:nvCxnSpPr>
          <p:cNvPr id="21" name="Straight Arrow Connector 20"/>
          <p:cNvCxnSpPr/>
          <p:nvPr/>
        </p:nvCxnSpPr>
        <p:spPr>
          <a:xfrm flipH="1">
            <a:off x="2133600" y="4413918"/>
            <a:ext cx="562717" cy="33476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Right Arrow 22"/>
          <p:cNvSpPr/>
          <p:nvPr/>
        </p:nvSpPr>
        <p:spPr>
          <a:xfrm>
            <a:off x="5320145" y="5395686"/>
            <a:ext cx="325633" cy="273544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ight Arrow 40"/>
          <p:cNvSpPr/>
          <p:nvPr/>
        </p:nvSpPr>
        <p:spPr>
          <a:xfrm>
            <a:off x="69668" y="2713926"/>
            <a:ext cx="325633" cy="273544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ight Arrow 41"/>
          <p:cNvSpPr/>
          <p:nvPr/>
        </p:nvSpPr>
        <p:spPr>
          <a:xfrm>
            <a:off x="53306" y="3164887"/>
            <a:ext cx="325633" cy="273544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ight Arrow 42"/>
          <p:cNvSpPr/>
          <p:nvPr/>
        </p:nvSpPr>
        <p:spPr>
          <a:xfrm>
            <a:off x="4994505" y="510580"/>
            <a:ext cx="325633" cy="273544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ight Arrow 43"/>
          <p:cNvSpPr/>
          <p:nvPr/>
        </p:nvSpPr>
        <p:spPr>
          <a:xfrm>
            <a:off x="4994505" y="887360"/>
            <a:ext cx="325633" cy="273544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ight Arrow 44"/>
          <p:cNvSpPr/>
          <p:nvPr/>
        </p:nvSpPr>
        <p:spPr>
          <a:xfrm>
            <a:off x="4994504" y="1292472"/>
            <a:ext cx="325633" cy="273544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ight Arrow 45"/>
          <p:cNvSpPr/>
          <p:nvPr/>
        </p:nvSpPr>
        <p:spPr>
          <a:xfrm>
            <a:off x="4994503" y="1875173"/>
            <a:ext cx="325633" cy="273544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ight Arrow 46"/>
          <p:cNvSpPr/>
          <p:nvPr/>
        </p:nvSpPr>
        <p:spPr>
          <a:xfrm>
            <a:off x="4990595" y="3274769"/>
            <a:ext cx="325633" cy="273544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ight Arrow 47"/>
          <p:cNvSpPr/>
          <p:nvPr/>
        </p:nvSpPr>
        <p:spPr>
          <a:xfrm>
            <a:off x="4994502" y="4360272"/>
            <a:ext cx="325633" cy="273544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ight Arrow 48"/>
          <p:cNvSpPr/>
          <p:nvPr/>
        </p:nvSpPr>
        <p:spPr>
          <a:xfrm>
            <a:off x="53306" y="3622026"/>
            <a:ext cx="325633" cy="273544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ight Arrow 26"/>
          <p:cNvSpPr/>
          <p:nvPr/>
        </p:nvSpPr>
        <p:spPr>
          <a:xfrm>
            <a:off x="5339217" y="5707143"/>
            <a:ext cx="349635" cy="277674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371565" y="5762789"/>
            <a:ext cx="1302327" cy="55812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B12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6620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3" grpId="0" animBg="1"/>
      <p:bldP spid="23" grpId="1" animBg="1"/>
      <p:bldP spid="23" grpId="2" animBg="1"/>
      <p:bldP spid="23" grpId="3" animBg="1"/>
      <p:bldP spid="41" grpId="0" animBg="1"/>
      <p:bldP spid="41" grpId="1" animBg="1"/>
      <p:bldP spid="42" grpId="0" animBg="1"/>
      <p:bldP spid="42" grpId="1" animBg="1"/>
      <p:bldP spid="42" grpId="2" animBg="1"/>
      <p:bldP spid="42" grpId="3" animBg="1"/>
      <p:bldP spid="43" grpId="0" animBg="1"/>
      <p:bldP spid="43" grpId="1" animBg="1"/>
      <p:bldP spid="44" grpId="0" animBg="1"/>
      <p:bldP spid="44" grpId="1" animBg="1"/>
      <p:bldP spid="45" grpId="0" animBg="1"/>
      <p:bldP spid="45" grpId="1" animBg="1"/>
      <p:bldP spid="45" grpId="2" animBg="1"/>
      <p:bldP spid="45" grpId="3" animBg="1"/>
      <p:bldP spid="46" grpId="0" animBg="1"/>
      <p:bldP spid="46" grpId="1" animBg="1"/>
      <p:bldP spid="47" grpId="0" animBg="1"/>
      <p:bldP spid="47" grpId="1" animBg="1"/>
      <p:bldP spid="48" grpId="0" animBg="1"/>
      <p:bldP spid="48" grpId="1" animBg="1"/>
      <p:bldP spid="49" grpId="0" animBg="1"/>
      <p:bldP spid="49" grpId="1" animBg="1"/>
      <p:bldP spid="27" grpId="0" animBg="1"/>
      <p:bldP spid="5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9668" y="95794"/>
            <a:ext cx="2926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c</a:t>
            </a:r>
            <a:r>
              <a:rPr lang="en-US" sz="2000" b="1" dirty="0" smtClean="0">
                <a:solidFill>
                  <a:srgbClr val="FF0000"/>
                </a:solidFill>
              </a:rPr>
              <a:t>lass </a:t>
            </a:r>
            <a:r>
              <a:rPr lang="en-US" sz="2000" b="1" dirty="0" err="1" smtClean="0">
                <a:solidFill>
                  <a:srgbClr val="FF0000"/>
                </a:solidFill>
              </a:rPr>
              <a:t>DBHelper</a:t>
            </a:r>
            <a:r>
              <a:rPr lang="en-US" sz="2000" b="1" dirty="0" smtClean="0">
                <a:solidFill>
                  <a:srgbClr val="FF0000"/>
                </a:solidFill>
              </a:rPr>
              <a:t> {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752157" y="6431654"/>
            <a:ext cx="4072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</a:rPr>
              <a:t>}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71565" y="1208798"/>
            <a:ext cx="4511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>
                <a:solidFill>
                  <a:srgbClr val="00B050"/>
                </a:solidFill>
              </a:rPr>
              <a:t>DBHelper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._</a:t>
            </a:r>
            <a:r>
              <a:rPr lang="en-US" b="1" dirty="0" err="1" smtClean="0">
                <a:solidFill>
                  <a:schemeClr val="accent1">
                    <a:lumMod val="75000"/>
                  </a:schemeClr>
                </a:solidFill>
              </a:rPr>
              <a:t>init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( ); </a:t>
            </a:r>
            <a:r>
              <a:rPr lang="en-US" b="1" dirty="0" smtClean="0">
                <a:solidFill>
                  <a:srgbClr val="00B050"/>
                </a:solidFill>
              </a:rPr>
              <a:t>// private constructor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71565" y="599458"/>
            <a:ext cx="2624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B050"/>
                </a:solidFill>
              </a:rPr>
              <a:t>Database ? </a:t>
            </a:r>
            <a:r>
              <a:rPr lang="en-US" b="1" dirty="0" smtClean="0"/>
              <a:t>_database</a:t>
            </a:r>
            <a:r>
              <a:rPr lang="en-US" b="1" dirty="0" smtClean="0">
                <a:solidFill>
                  <a:srgbClr val="00B050"/>
                </a:solidFill>
              </a:rPr>
              <a:t>; 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71565" y="1809567"/>
            <a:ext cx="4511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B050"/>
                </a:solidFill>
              </a:rPr>
              <a:t>static </a:t>
            </a:r>
            <a:r>
              <a:rPr lang="en-US" b="1" dirty="0" err="1" smtClean="0"/>
              <a:t>DBHelper</a:t>
            </a:r>
            <a:r>
              <a:rPr lang="en-US" b="1" dirty="0" smtClean="0"/>
              <a:t> instance</a:t>
            </a:r>
            <a:r>
              <a:rPr lang="en-US" b="1" dirty="0" smtClean="0">
                <a:solidFill>
                  <a:schemeClr val="accent2"/>
                </a:solidFill>
              </a:rPr>
              <a:t>=</a:t>
            </a:r>
            <a:r>
              <a:rPr lang="en-US" b="1" dirty="0" err="1" smtClean="0"/>
              <a:t>DBHelper</a:t>
            </a:r>
            <a:r>
              <a:rPr lang="en-US" b="1" dirty="0" smtClean="0">
                <a:solidFill>
                  <a:srgbClr val="FF0000"/>
                </a:solidFill>
              </a:rPr>
              <a:t>._</a:t>
            </a:r>
            <a:r>
              <a:rPr lang="en-US" b="1" dirty="0" err="1" smtClean="0">
                <a:solidFill>
                  <a:srgbClr val="FF0000"/>
                </a:solidFill>
              </a:rPr>
              <a:t>init</a:t>
            </a:r>
            <a:r>
              <a:rPr lang="en-US" b="1" dirty="0" smtClean="0">
                <a:solidFill>
                  <a:srgbClr val="FF0000"/>
                </a:solidFill>
              </a:rPr>
              <a:t>(); 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77795" y="4233131"/>
            <a:ext cx="997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instance</a:t>
            </a:r>
            <a:endParaRPr lang="en-US" b="1" dirty="0"/>
          </a:p>
        </p:txBody>
      </p:sp>
      <p:sp>
        <p:nvSpPr>
          <p:cNvPr id="3" name="Rectangle 2"/>
          <p:cNvSpPr/>
          <p:nvPr/>
        </p:nvSpPr>
        <p:spPr>
          <a:xfrm>
            <a:off x="177795" y="4633241"/>
            <a:ext cx="1856506" cy="4000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A12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77794" y="5522792"/>
            <a:ext cx="1856507" cy="8220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24159" y="5211020"/>
            <a:ext cx="997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A12</a:t>
            </a:r>
            <a:endParaRPr lang="en-US" b="1" dirty="0"/>
          </a:p>
        </p:txBody>
      </p:sp>
      <p:sp>
        <p:nvSpPr>
          <p:cNvPr id="12" name="Rectangle 11"/>
          <p:cNvSpPr/>
          <p:nvPr/>
        </p:nvSpPr>
        <p:spPr>
          <a:xfrm>
            <a:off x="362521" y="5758108"/>
            <a:ext cx="1302327" cy="55812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B12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424866" y="5484564"/>
            <a:ext cx="1239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database</a:t>
            </a:r>
            <a:endParaRPr lang="en-US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371565" y="2309497"/>
            <a:ext cx="3960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Future&lt;</a:t>
            </a:r>
            <a:r>
              <a:rPr lang="en-US" b="1" dirty="0">
                <a:solidFill>
                  <a:srgbClr val="FF0000"/>
                </a:solidFill>
              </a:rPr>
              <a:t>D</a:t>
            </a:r>
            <a:r>
              <a:rPr lang="en-US" b="1" dirty="0" smtClean="0">
                <a:solidFill>
                  <a:srgbClr val="FF0000"/>
                </a:solidFill>
              </a:rPr>
              <a:t>atabase</a:t>
            </a:r>
            <a:r>
              <a:rPr lang="en-US" b="1" dirty="0" smtClean="0"/>
              <a:t>&gt; </a:t>
            </a:r>
            <a:r>
              <a:rPr lang="en-US" b="1" dirty="0" smtClean="0">
                <a:solidFill>
                  <a:srgbClr val="002060"/>
                </a:solidFill>
              </a:rPr>
              <a:t>get</a:t>
            </a:r>
            <a:r>
              <a:rPr lang="en-US" b="1" dirty="0" smtClean="0"/>
              <a:t>  database </a:t>
            </a:r>
            <a:r>
              <a:rPr lang="en-US" b="1" dirty="0" err="1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async</a:t>
            </a:r>
            <a:r>
              <a:rPr lang="en-US" b="1" dirty="0" smtClean="0"/>
              <a:t> {</a:t>
            </a:r>
            <a:endParaRPr lang="en-US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505492" y="2678829"/>
            <a:ext cx="3934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if (</a:t>
            </a:r>
            <a:r>
              <a:rPr lang="en-US" b="1" dirty="0" smtClean="0">
                <a:solidFill>
                  <a:srgbClr val="FF0000"/>
                </a:solidFill>
              </a:rPr>
              <a:t>_database!=null</a:t>
            </a:r>
            <a:r>
              <a:rPr lang="en-US" b="1" dirty="0" smtClean="0"/>
              <a:t>)</a:t>
            </a:r>
            <a:r>
              <a:rPr lang="en-US" b="1" dirty="0" smtClean="0">
                <a:solidFill>
                  <a:schemeClr val="accent5"/>
                </a:solidFill>
              </a:rPr>
              <a:t> return </a:t>
            </a:r>
            <a:r>
              <a:rPr lang="en-US" b="1" dirty="0" smtClean="0"/>
              <a:t>_database</a:t>
            </a:r>
            <a:r>
              <a:rPr lang="en-US" b="1" dirty="0" smtClean="0">
                <a:solidFill>
                  <a:srgbClr val="FF0000"/>
                </a:solidFill>
              </a:rPr>
              <a:t>!</a:t>
            </a:r>
            <a:r>
              <a:rPr lang="en-US" b="1" dirty="0" smtClean="0"/>
              <a:t>;</a:t>
            </a:r>
            <a:endParaRPr lang="en-US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523714" y="3124257"/>
            <a:ext cx="3393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_database=</a:t>
            </a:r>
            <a:r>
              <a:rPr lang="en-US" b="1" dirty="0" smtClean="0">
                <a:solidFill>
                  <a:srgbClr val="0070C0"/>
                </a:solidFill>
              </a:rPr>
              <a:t>await</a:t>
            </a:r>
            <a:r>
              <a:rPr lang="en-US" b="1" dirty="0" smtClean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_</a:t>
            </a:r>
            <a:r>
              <a:rPr lang="en-US" b="1" dirty="0" err="1" smtClean="0">
                <a:solidFill>
                  <a:srgbClr val="FF0000"/>
                </a:solidFill>
              </a:rPr>
              <a:t>initializedDB</a:t>
            </a:r>
            <a:r>
              <a:rPr lang="en-US" b="1" dirty="0" smtClean="0">
                <a:solidFill>
                  <a:srgbClr val="FF0000"/>
                </a:solidFill>
              </a:rPr>
              <a:t>();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5492" y="3548313"/>
            <a:ext cx="20179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accent5"/>
                </a:solidFill>
              </a:rPr>
              <a:t> return </a:t>
            </a:r>
            <a:r>
              <a:rPr lang="en-US" b="1" dirty="0" smtClean="0"/>
              <a:t>_database</a:t>
            </a:r>
            <a:r>
              <a:rPr lang="en-US" b="1" dirty="0" smtClean="0">
                <a:solidFill>
                  <a:srgbClr val="FF0000"/>
                </a:solidFill>
              </a:rPr>
              <a:t>!</a:t>
            </a:r>
            <a:r>
              <a:rPr lang="en-US" b="1" dirty="0" smtClean="0"/>
              <a:t>;</a:t>
            </a:r>
            <a:endParaRPr lang="en-US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523714" y="3929498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accent5"/>
                </a:solidFill>
              </a:rPr>
              <a:t> </a:t>
            </a:r>
            <a:r>
              <a:rPr lang="en-US" b="1" dirty="0" smtClean="0"/>
              <a:t>}</a:t>
            </a:r>
            <a:endParaRPr lang="en-US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5449455" y="84508"/>
            <a:ext cx="3874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Future&lt;</a:t>
            </a:r>
            <a:r>
              <a:rPr lang="en-US" b="1" dirty="0">
                <a:solidFill>
                  <a:srgbClr val="FF0000"/>
                </a:solidFill>
              </a:rPr>
              <a:t>D</a:t>
            </a:r>
            <a:r>
              <a:rPr lang="en-US" b="1" dirty="0" smtClean="0">
                <a:solidFill>
                  <a:srgbClr val="FF0000"/>
                </a:solidFill>
              </a:rPr>
              <a:t>atabase</a:t>
            </a:r>
            <a:r>
              <a:rPr lang="en-US" b="1" dirty="0" smtClean="0"/>
              <a:t>&gt; </a:t>
            </a:r>
            <a:r>
              <a:rPr lang="en-US" b="1" dirty="0" smtClean="0"/>
              <a:t>_</a:t>
            </a:r>
            <a:r>
              <a:rPr lang="en-US" b="1" dirty="0" err="1" smtClean="0">
                <a:solidFill>
                  <a:srgbClr val="002060"/>
                </a:solidFill>
              </a:rPr>
              <a:t>initializeDB</a:t>
            </a:r>
            <a:r>
              <a:rPr lang="en-US" b="1" dirty="0" smtClean="0"/>
              <a:t> </a:t>
            </a:r>
            <a:r>
              <a:rPr lang="en-US" b="1" dirty="0" err="1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async</a:t>
            </a:r>
            <a:r>
              <a:rPr lang="en-US" b="1" dirty="0" smtClean="0"/>
              <a:t> {</a:t>
            </a:r>
            <a:endParaRPr lang="en-US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5432809" y="453840"/>
            <a:ext cx="41581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String </a:t>
            </a:r>
            <a:r>
              <a:rPr lang="en-US" b="1" dirty="0" err="1" smtClean="0"/>
              <a:t>dbPath</a:t>
            </a:r>
            <a:r>
              <a:rPr lang="en-US" b="1" dirty="0" smtClean="0"/>
              <a:t>=</a:t>
            </a:r>
            <a:r>
              <a:rPr lang="en-US" b="1" dirty="0" smtClean="0">
                <a:solidFill>
                  <a:srgbClr val="0070C0"/>
                </a:solidFill>
              </a:rPr>
              <a:t>await</a:t>
            </a:r>
            <a:r>
              <a:rPr lang="en-US" b="1" dirty="0" smtClean="0"/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getDatabasesPath</a:t>
            </a:r>
            <a:r>
              <a:rPr lang="en-US" b="1" dirty="0" smtClean="0">
                <a:solidFill>
                  <a:srgbClr val="FF0000"/>
                </a:solidFill>
              </a:rPr>
              <a:t>( );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86400" y="839466"/>
            <a:ext cx="3902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String path=</a:t>
            </a:r>
            <a:r>
              <a:rPr lang="en-US" b="1" dirty="0" smtClean="0">
                <a:solidFill>
                  <a:srgbClr val="0070C0"/>
                </a:solidFill>
              </a:rPr>
              <a:t>join</a:t>
            </a:r>
            <a:r>
              <a:rPr lang="en-US" b="1" dirty="0" smtClean="0"/>
              <a:t>(</a:t>
            </a:r>
            <a:r>
              <a:rPr lang="en-US" b="1" dirty="0" err="1" smtClean="0"/>
              <a:t>dbPath</a:t>
            </a:r>
            <a:r>
              <a:rPr lang="en-US" b="1" dirty="0" smtClean="0"/>
              <a:t>,</a:t>
            </a:r>
            <a:r>
              <a:rPr lang="en-US" b="1" dirty="0" smtClean="0">
                <a:solidFill>
                  <a:srgbClr val="0070C0"/>
                </a:solidFill>
              </a:rPr>
              <a:t> </a:t>
            </a:r>
            <a:r>
              <a:rPr lang="en-US" b="1" dirty="0" smtClean="0">
                <a:solidFill>
                  <a:srgbClr val="FF0000"/>
                </a:solidFill>
              </a:rPr>
              <a:t>'</a:t>
            </a:r>
            <a:r>
              <a:rPr lang="en-US" b="1" dirty="0" err="1" smtClean="0">
                <a:solidFill>
                  <a:srgbClr val="FF0000"/>
                </a:solidFill>
              </a:rPr>
              <a:t>my_app.db</a:t>
            </a:r>
            <a:r>
              <a:rPr lang="en-US" b="1" dirty="0" smtClean="0">
                <a:solidFill>
                  <a:srgbClr val="FF0000"/>
                </a:solidFill>
              </a:rPr>
              <a:t>‘</a:t>
            </a:r>
            <a:r>
              <a:rPr lang="en-US" b="1" dirty="0" smtClean="0"/>
              <a:t>);</a:t>
            </a:r>
            <a:endParaRPr lang="en-US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5486400" y="1237529"/>
            <a:ext cx="29803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0070C0"/>
                </a:solidFill>
              </a:rPr>
              <a:t>return</a:t>
            </a:r>
            <a:r>
              <a:rPr lang="en-US" b="1" dirty="0" smtClean="0"/>
              <a:t> await </a:t>
            </a:r>
            <a:r>
              <a:rPr lang="en-US" b="1" dirty="0" err="1" smtClean="0">
                <a:solidFill>
                  <a:srgbClr val="FF0000"/>
                </a:solidFill>
              </a:rPr>
              <a:t>openDatabase</a:t>
            </a:r>
            <a:r>
              <a:rPr lang="en-US" b="1" dirty="0" smtClean="0">
                <a:solidFill>
                  <a:srgbClr val="FF0000"/>
                </a:solidFill>
              </a:rPr>
              <a:t>(  </a:t>
            </a:r>
          </a:p>
          <a:p>
            <a:r>
              <a:rPr lang="en-US" b="1" dirty="0"/>
              <a:t> </a:t>
            </a:r>
            <a:r>
              <a:rPr lang="en-US" b="1" dirty="0" smtClean="0"/>
              <a:t>     path ,  version :1 </a:t>
            </a:r>
            <a:endParaRPr lang="en-US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5772241" y="1827279"/>
            <a:ext cx="1116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 smtClean="0"/>
              <a:t>onCreate</a:t>
            </a:r>
            <a:r>
              <a:rPr lang="en-US" b="1" dirty="0" smtClean="0"/>
              <a:t>:</a:t>
            </a:r>
            <a:endParaRPr lang="en-US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6770746" y="1827279"/>
            <a:ext cx="1235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_</a:t>
            </a:r>
            <a:r>
              <a:rPr lang="en-US" b="1" dirty="0" err="1" smtClean="0"/>
              <a:t>createDB</a:t>
            </a:r>
            <a:r>
              <a:rPr lang="en-US" b="1" dirty="0" smtClean="0"/>
              <a:t>;</a:t>
            </a:r>
            <a:endParaRPr lang="en-US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5611780" y="2196611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);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645778" y="2565943"/>
            <a:ext cx="2179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}</a:t>
            </a:r>
            <a:endParaRPr lang="en-US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5503046" y="2827764"/>
            <a:ext cx="43958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 </a:t>
            </a:r>
            <a:r>
              <a:rPr lang="en-US" b="1" dirty="0" smtClean="0">
                <a:solidFill>
                  <a:srgbClr val="002060"/>
                </a:solidFill>
              </a:rPr>
              <a:t>_</a:t>
            </a:r>
            <a:r>
              <a:rPr lang="en-US" b="1" dirty="0" err="1" smtClean="0">
                <a:solidFill>
                  <a:srgbClr val="002060"/>
                </a:solidFill>
              </a:rPr>
              <a:t>createDB</a:t>
            </a:r>
            <a:r>
              <a:rPr lang="en-US" b="1" dirty="0" smtClean="0">
                <a:solidFill>
                  <a:srgbClr val="FF0000"/>
                </a:solidFill>
              </a:rPr>
              <a:t>(Database </a:t>
            </a:r>
            <a:r>
              <a:rPr lang="en-US" b="1" dirty="0" err="1" smtClean="0">
                <a:solidFill>
                  <a:srgbClr val="FF0000"/>
                </a:solidFill>
              </a:rPr>
              <a:t>db</a:t>
            </a:r>
            <a:r>
              <a:rPr lang="en-US" b="1" dirty="0" smtClean="0">
                <a:solidFill>
                  <a:srgbClr val="FF0000"/>
                </a:solidFill>
              </a:rPr>
              <a:t>, </a:t>
            </a:r>
            <a:r>
              <a:rPr lang="en-US" b="1" dirty="0" err="1" smtClean="0">
                <a:solidFill>
                  <a:srgbClr val="FF0000"/>
                </a:solidFill>
              </a:rPr>
              <a:t>int</a:t>
            </a:r>
            <a:r>
              <a:rPr lang="en-US" b="1" dirty="0" smtClean="0">
                <a:solidFill>
                  <a:srgbClr val="FF0000"/>
                </a:solidFill>
              </a:rPr>
              <a:t> version)</a:t>
            </a:r>
            <a:r>
              <a:rPr lang="en-US" b="1" dirty="0" smtClean="0"/>
              <a:t> </a:t>
            </a:r>
            <a:r>
              <a:rPr lang="en-US" b="1" dirty="0" err="1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async</a:t>
            </a:r>
            <a:r>
              <a:rPr lang="en-US" b="1" dirty="0" smtClean="0"/>
              <a:t> {</a:t>
            </a:r>
            <a:endParaRPr lang="en-US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5894210" y="3181163"/>
            <a:ext cx="58295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String query= </a:t>
            </a:r>
            <a:r>
              <a:rPr lang="en-US" dirty="0">
                <a:solidFill>
                  <a:srgbClr val="FF0000"/>
                </a:solidFill>
              </a:rPr>
              <a:t>''' </a:t>
            </a:r>
            <a:r>
              <a:rPr lang="en-US" dirty="0">
                <a:solidFill>
                  <a:schemeClr val="accent5"/>
                </a:solidFill>
              </a:rPr>
              <a:t>CREATE TABLE users </a:t>
            </a:r>
            <a:r>
              <a:rPr lang="en-US" dirty="0"/>
              <a:t>( </a:t>
            </a:r>
          </a:p>
          <a:p>
            <a:r>
              <a:rPr lang="en-US" dirty="0">
                <a:solidFill>
                  <a:srgbClr val="C00000"/>
                </a:solidFill>
              </a:rPr>
              <a:t>id INTEGER PRIMARY KEY AUTOINCREMENT</a:t>
            </a:r>
            <a:r>
              <a:rPr lang="en-US" dirty="0">
                <a:solidFill>
                  <a:srgbClr val="FF0000"/>
                </a:solidFill>
              </a:rPr>
              <a:t>,</a:t>
            </a:r>
          </a:p>
          <a:p>
            <a:r>
              <a:rPr lang="en-US" dirty="0">
                <a:solidFill>
                  <a:srgbClr val="C00000"/>
                </a:solidFill>
              </a:rPr>
              <a:t>        name TEXT NOT NULL</a:t>
            </a:r>
          </a:p>
          <a:p>
            <a:r>
              <a:rPr lang="en-US" dirty="0"/>
              <a:t>      </a:t>
            </a:r>
            <a:r>
              <a:rPr lang="en-US" dirty="0" smtClean="0"/>
              <a:t>)  </a:t>
            </a:r>
            <a:r>
              <a:rPr lang="en-US" dirty="0" smtClean="0">
                <a:solidFill>
                  <a:srgbClr val="FF0000"/>
                </a:solidFill>
              </a:rPr>
              <a:t>''‘ ;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894210" y="4348446"/>
            <a:ext cx="2631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await</a:t>
            </a:r>
            <a:r>
              <a:rPr lang="en-US" b="1" dirty="0" smtClean="0">
                <a:solidFill>
                  <a:srgbClr val="002060"/>
                </a:solidFill>
              </a:rPr>
              <a:t> </a:t>
            </a:r>
            <a:r>
              <a:rPr lang="en-US" b="1" dirty="0" err="1" smtClean="0">
                <a:solidFill>
                  <a:schemeClr val="accent1">
                    <a:lumMod val="75000"/>
                  </a:schemeClr>
                </a:solidFill>
              </a:rPr>
              <a:t>db</a:t>
            </a:r>
            <a:r>
              <a:rPr lang="en-US" b="1" dirty="0" err="1" smtClean="0">
                <a:solidFill>
                  <a:srgbClr val="002060"/>
                </a:solidFill>
              </a:rPr>
              <a:t>.execute</a:t>
            </a:r>
            <a:r>
              <a:rPr lang="en-US" b="1" dirty="0" smtClean="0">
                <a:solidFill>
                  <a:srgbClr val="002060"/>
                </a:solidFill>
              </a:rPr>
              <a:t>(</a:t>
            </a:r>
            <a:r>
              <a:rPr lang="en-US" b="1" dirty="0" smtClean="0">
                <a:solidFill>
                  <a:srgbClr val="FF0000"/>
                </a:solidFill>
              </a:rPr>
              <a:t>query</a:t>
            </a:r>
            <a:r>
              <a:rPr lang="en-US" b="1" dirty="0" smtClean="0">
                <a:solidFill>
                  <a:srgbClr val="002060"/>
                </a:solidFill>
              </a:rPr>
              <a:t>);</a:t>
            </a:r>
            <a:endParaRPr lang="en-US" b="1" dirty="0"/>
          </a:p>
        </p:txBody>
      </p:sp>
      <p:sp>
        <p:nvSpPr>
          <p:cNvPr id="36" name="TextBox 35"/>
          <p:cNvSpPr txBox="1"/>
          <p:nvPr/>
        </p:nvSpPr>
        <p:spPr>
          <a:xfrm>
            <a:off x="5561255" y="4734891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 </a:t>
            </a:r>
            <a:r>
              <a:rPr lang="en-US" b="1" dirty="0"/>
              <a:t>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08494" y="4984412"/>
            <a:ext cx="45830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 </a:t>
            </a:r>
            <a:r>
              <a:rPr lang="en-US" b="1" dirty="0" smtClean="0">
                <a:solidFill>
                  <a:srgbClr val="002060"/>
                </a:solidFill>
              </a:rPr>
              <a:t>Future&lt;void&gt; </a:t>
            </a:r>
            <a:r>
              <a:rPr lang="en-US" b="1" dirty="0" err="1" smtClean="0">
                <a:solidFill>
                  <a:srgbClr val="002060"/>
                </a:solidFill>
              </a:rPr>
              <a:t>insertData</a:t>
            </a:r>
            <a:r>
              <a:rPr lang="en-US" b="1" dirty="0" smtClean="0">
                <a:solidFill>
                  <a:srgbClr val="FF0000"/>
                </a:solidFill>
              </a:rPr>
              <a:t>(String query)</a:t>
            </a:r>
            <a:r>
              <a:rPr lang="en-US" b="1" dirty="0" smtClean="0"/>
              <a:t> </a:t>
            </a:r>
            <a:r>
              <a:rPr lang="en-US" b="1" dirty="0" err="1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async</a:t>
            </a:r>
            <a:r>
              <a:rPr lang="en-US" b="1" dirty="0" smtClean="0"/>
              <a:t> {</a:t>
            </a:r>
            <a:endParaRPr lang="en-US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5561255" y="5348176"/>
            <a:ext cx="4315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 </a:t>
            </a:r>
            <a:r>
              <a:rPr lang="en-US" b="1" dirty="0" smtClean="0">
                <a:solidFill>
                  <a:srgbClr val="002060"/>
                </a:solidFill>
              </a:rPr>
              <a:t>Database </a:t>
            </a:r>
            <a:r>
              <a:rPr lang="en-US" b="1" dirty="0" err="1" smtClean="0">
                <a:solidFill>
                  <a:srgbClr val="002060"/>
                </a:solidFill>
              </a:rPr>
              <a:t>db</a:t>
            </a:r>
            <a:r>
              <a:rPr lang="en-US" b="1" dirty="0" smtClean="0">
                <a:solidFill>
                  <a:srgbClr val="002060"/>
                </a:solidFill>
              </a:rPr>
              <a:t>=await database; // call getter</a:t>
            </a:r>
            <a:endParaRPr lang="en-US" b="1" dirty="0"/>
          </a:p>
        </p:txBody>
      </p:sp>
      <p:sp>
        <p:nvSpPr>
          <p:cNvPr id="39" name="TextBox 38"/>
          <p:cNvSpPr txBox="1"/>
          <p:nvPr/>
        </p:nvSpPr>
        <p:spPr>
          <a:xfrm>
            <a:off x="5648582" y="5631418"/>
            <a:ext cx="2752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await </a:t>
            </a:r>
            <a:r>
              <a:rPr lang="en-US" b="1" dirty="0" err="1" smtClean="0">
                <a:solidFill>
                  <a:srgbClr val="002060"/>
                </a:solidFill>
              </a:rPr>
              <a:t>db.rawInsert</a:t>
            </a:r>
            <a:r>
              <a:rPr lang="en-US" b="1" dirty="0" smtClean="0">
                <a:solidFill>
                  <a:srgbClr val="002060"/>
                </a:solidFill>
              </a:rPr>
              <a:t>(query);</a:t>
            </a:r>
            <a:endParaRPr lang="en-US" b="1" dirty="0"/>
          </a:p>
        </p:txBody>
      </p:sp>
      <p:sp>
        <p:nvSpPr>
          <p:cNvPr id="40" name="TextBox 39"/>
          <p:cNvSpPr txBox="1"/>
          <p:nvPr/>
        </p:nvSpPr>
        <p:spPr>
          <a:xfrm>
            <a:off x="5634589" y="5909092"/>
            <a:ext cx="264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5232" y="4147447"/>
            <a:ext cx="3301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DBHelper.</a:t>
            </a:r>
            <a:r>
              <a:rPr lang="en-US" dirty="0" err="1" smtClean="0">
                <a:solidFill>
                  <a:srgbClr val="FF0000"/>
                </a:solidFill>
              </a:rPr>
              <a:t>instance.</a:t>
            </a:r>
            <a:r>
              <a:rPr lang="en-US" dirty="0" err="1" smtClean="0"/>
              <a:t>insertData</a:t>
            </a:r>
            <a:r>
              <a:rPr lang="en-US" dirty="0" smtClean="0"/>
              <a:t>(‘ ‘);</a:t>
            </a:r>
            <a:endParaRPr lang="en-US" dirty="0"/>
          </a:p>
        </p:txBody>
      </p:sp>
      <p:cxnSp>
        <p:nvCxnSpPr>
          <p:cNvPr id="21" name="Straight Arrow Connector 20"/>
          <p:cNvCxnSpPr/>
          <p:nvPr/>
        </p:nvCxnSpPr>
        <p:spPr>
          <a:xfrm flipH="1">
            <a:off x="2133600" y="4413918"/>
            <a:ext cx="562717" cy="33476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Right Arrow 22"/>
          <p:cNvSpPr/>
          <p:nvPr/>
        </p:nvSpPr>
        <p:spPr>
          <a:xfrm>
            <a:off x="5320145" y="5395686"/>
            <a:ext cx="325633" cy="273544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ight Arrow 40"/>
          <p:cNvSpPr/>
          <p:nvPr/>
        </p:nvSpPr>
        <p:spPr>
          <a:xfrm>
            <a:off x="69668" y="2713926"/>
            <a:ext cx="325633" cy="273544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ight Arrow 48"/>
          <p:cNvSpPr/>
          <p:nvPr/>
        </p:nvSpPr>
        <p:spPr>
          <a:xfrm rot="10800000">
            <a:off x="4320631" y="2738886"/>
            <a:ext cx="325633" cy="273544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738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3" grpId="0" animBg="1"/>
      <p:bldP spid="23" grpId="1" animBg="1"/>
      <p:bldP spid="23" grpId="2" animBg="1"/>
      <p:bldP spid="23" grpId="3" animBg="1"/>
      <p:bldP spid="41" grpId="0" animBg="1"/>
      <p:bldP spid="41" grpId="1" animBg="1"/>
      <p:bldP spid="49" grpId="0" animBg="1"/>
      <p:bldP spid="49" grpId="1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2499</TotalTime>
  <Words>583</Words>
  <Application>Microsoft Office PowerPoint</Application>
  <PresentationFormat>Widescreen</PresentationFormat>
  <Paragraphs>147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Flutter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Umar Farooq</dc:creator>
  <cp:lastModifiedBy>Umar Farooq</cp:lastModifiedBy>
  <cp:revision>117</cp:revision>
  <dcterms:created xsi:type="dcterms:W3CDTF">2025-09-17T09:03:48Z</dcterms:created>
  <dcterms:modified xsi:type="dcterms:W3CDTF">2025-10-17T08:20:12Z</dcterms:modified>
</cp:coreProperties>
</file>
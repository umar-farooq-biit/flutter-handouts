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8" r:id="rId5"/>
    <p:sldId id="279" r:id="rId6"/>
    <p:sldId id="263" r:id="rId7"/>
    <p:sldId id="277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6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3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A650-7C7E-4E41-AB7C-EA322427679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0" y="2219416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200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5" y="390618"/>
            <a:ext cx="3541047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76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9397" y="1367253"/>
            <a:ext cx="476781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 smtClean="0">
                <a:solidFill>
                  <a:srgbClr val="0070C0"/>
                </a:solidFill>
              </a:rPr>
              <a:t>StatefulWidget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r>
              <a:rPr lang="en-US" sz="3200" b="1" dirty="0" smtClean="0">
                <a:solidFill>
                  <a:srgbClr val="0070C0"/>
                </a:solidFill>
              </a:rPr>
              <a:t>Counter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StatelessWidget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309" y="769586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package:flutter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material.dart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CounterExample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StatelessWidget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Widget build(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BuildContext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context)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Scaffold(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backgroundColor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Colors.orange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260" y="769586"/>
            <a:ext cx="2556885" cy="53526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4664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StatelessWidget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309" y="769586"/>
            <a:ext cx="6096000" cy="64633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package:flutter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material.dart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CounterExample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StatelessWidget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Widget build(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BuildContext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context)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Scaffold(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backgroundColor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Colors.orange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/>
              <a:t>    </a:t>
            </a:r>
            <a:r>
              <a:rPr lang="en-US" b="1" dirty="0" err="1"/>
              <a:t>appBar</a:t>
            </a:r>
            <a:r>
              <a:rPr lang="en-US" b="1" dirty="0"/>
              <a:t>: </a:t>
            </a:r>
            <a:r>
              <a:rPr lang="en-US" b="1" dirty="0" err="1"/>
              <a:t>AppBar</a:t>
            </a:r>
            <a:r>
              <a:rPr lang="en-US" b="1" dirty="0"/>
              <a:t>(title: Text('</a:t>
            </a:r>
            <a:r>
              <a:rPr lang="en-US" b="1" dirty="0" err="1"/>
              <a:t>Counter',style</a:t>
            </a:r>
            <a:r>
              <a:rPr lang="en-US" b="1" dirty="0"/>
              <a:t>: </a:t>
            </a:r>
            <a:r>
              <a:rPr lang="en-US" b="1" dirty="0" err="1"/>
              <a:t>TextStyle</a:t>
            </a:r>
            <a:r>
              <a:rPr lang="en-US" b="1" dirty="0"/>
              <a:t>(color: </a:t>
            </a:r>
            <a:r>
              <a:rPr lang="en-US" b="1" dirty="0" err="1"/>
              <a:t>Colors.white</a:t>
            </a:r>
            <a:r>
              <a:rPr lang="en-US" b="1" dirty="0"/>
              <a:t>),),</a:t>
            </a:r>
            <a:r>
              <a:rPr lang="en-US" b="1" dirty="0" err="1"/>
              <a:t>backgroundColor</a:t>
            </a:r>
            <a:r>
              <a:rPr lang="en-US" b="1" dirty="0"/>
              <a:t>: </a:t>
            </a:r>
            <a:r>
              <a:rPr lang="en-US" b="1" dirty="0" err="1"/>
              <a:t>Colors.black</a:t>
            </a:r>
            <a:r>
              <a:rPr lang="en-US" b="1" dirty="0"/>
              <a:t>,),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241" y="769586"/>
            <a:ext cx="3154680" cy="52772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3198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StatelessWidget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308" y="769586"/>
            <a:ext cx="603134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package:flutter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material.dart</a:t>
            </a:r>
            <a:r>
              <a:rPr lang="en-US" dirty="0" smtClean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CounterExample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StatelessWidget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b="1" dirty="0" err="1"/>
              <a:t>int</a:t>
            </a:r>
            <a:r>
              <a:rPr lang="en-US" b="1" dirty="0"/>
              <a:t> _counter=0</a:t>
            </a:r>
            <a:r>
              <a:rPr lang="en-US" b="1" dirty="0" smtClean="0"/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Widget build(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BuildContext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context)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Scaffold(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backgroundColor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Colors.orange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/>
              <a:t>    </a:t>
            </a:r>
            <a:r>
              <a:rPr lang="en-US" dirty="0" err="1"/>
              <a:t>appBar</a:t>
            </a:r>
            <a:r>
              <a:rPr lang="en-US" dirty="0"/>
              <a:t>: </a:t>
            </a:r>
            <a:r>
              <a:rPr lang="en-US" dirty="0" err="1"/>
              <a:t>AppBar</a:t>
            </a:r>
            <a:r>
              <a:rPr lang="en-US" dirty="0"/>
              <a:t>(title: Text('</a:t>
            </a:r>
            <a:r>
              <a:rPr lang="en-US" dirty="0" err="1"/>
              <a:t>Counter',style</a:t>
            </a:r>
            <a:r>
              <a:rPr lang="en-US" dirty="0"/>
              <a:t>: </a:t>
            </a:r>
            <a:r>
              <a:rPr lang="en-US" dirty="0" err="1"/>
              <a:t>TextStyle</a:t>
            </a:r>
            <a:r>
              <a:rPr lang="en-US" dirty="0"/>
              <a:t>(color: </a:t>
            </a:r>
            <a:r>
              <a:rPr lang="en-US" dirty="0" err="1"/>
              <a:t>Colors.white</a:t>
            </a:r>
            <a:r>
              <a:rPr lang="en-US" dirty="0"/>
              <a:t>),),</a:t>
            </a:r>
            <a:r>
              <a:rPr lang="en-US" dirty="0" err="1"/>
              <a:t>backgroundColor</a:t>
            </a:r>
            <a:r>
              <a:rPr lang="en-US" dirty="0"/>
              <a:t>: </a:t>
            </a:r>
            <a:r>
              <a:rPr lang="en-US" dirty="0" err="1"/>
              <a:t>Colors.black</a:t>
            </a:r>
            <a:r>
              <a:rPr lang="en-US" dirty="0" smtClean="0"/>
              <a:t>,),</a:t>
            </a:r>
          </a:p>
          <a:p>
            <a:r>
              <a:rPr lang="en-US" b="1" dirty="0"/>
              <a:t>body: Padding(padding: </a:t>
            </a:r>
            <a:r>
              <a:rPr lang="en-US" b="1" dirty="0" err="1"/>
              <a:t>EdgeInsets.all</a:t>
            </a:r>
            <a:r>
              <a:rPr lang="en-US" b="1" dirty="0"/>
              <a:t>(15),</a:t>
            </a:r>
          </a:p>
          <a:p>
            <a:r>
              <a:rPr lang="en-US" b="1" dirty="0"/>
              <a:t>      child: Column(</a:t>
            </a:r>
          </a:p>
          <a:p>
            <a:r>
              <a:rPr lang="en-US" b="1" dirty="0"/>
              <a:t>        spacing: 10,</a:t>
            </a:r>
          </a:p>
          <a:p>
            <a:r>
              <a:rPr lang="en-US" b="1" dirty="0"/>
              <a:t>        children: [</a:t>
            </a:r>
          </a:p>
          <a:p>
            <a:r>
              <a:rPr lang="en-US" b="1" dirty="0"/>
              <a:t>          Text('Counter::${_counter}',style: </a:t>
            </a:r>
            <a:r>
              <a:rPr lang="en-US" b="1" dirty="0" err="1"/>
              <a:t>TextStyle</a:t>
            </a:r>
            <a:r>
              <a:rPr lang="en-US" b="1" dirty="0"/>
              <a:t>(</a:t>
            </a:r>
            <a:r>
              <a:rPr lang="en-US" b="1" dirty="0" err="1"/>
              <a:t>fontSize</a:t>
            </a:r>
            <a:r>
              <a:rPr lang="en-US" b="1" dirty="0"/>
              <a:t>: 25,color: </a:t>
            </a:r>
            <a:r>
              <a:rPr lang="en-US" b="1" dirty="0" err="1"/>
              <a:t>Colors.white</a:t>
            </a:r>
            <a:r>
              <a:rPr lang="en-US" b="1" dirty="0"/>
              <a:t>),),</a:t>
            </a:r>
          </a:p>
          <a:p>
            <a:r>
              <a:rPr lang="en-US" b="1" dirty="0"/>
              <a:t>          </a:t>
            </a:r>
            <a:r>
              <a:rPr lang="en-US" b="1" dirty="0" err="1"/>
              <a:t>ElevatedButton</a:t>
            </a:r>
            <a:r>
              <a:rPr lang="en-US" b="1" dirty="0"/>
              <a:t>(</a:t>
            </a:r>
            <a:r>
              <a:rPr lang="en-US" b="1" dirty="0" err="1"/>
              <a:t>onPressed</a:t>
            </a:r>
            <a:r>
              <a:rPr lang="en-US" b="1" dirty="0"/>
              <a:t>: (){</a:t>
            </a:r>
          </a:p>
          <a:p>
            <a:r>
              <a:rPr lang="en-US" b="1" dirty="0"/>
              <a:t>            _counter++;</a:t>
            </a:r>
          </a:p>
          <a:p>
            <a:r>
              <a:rPr lang="en-US" b="1" dirty="0"/>
              <a:t>          }, child: Text('+',style: </a:t>
            </a:r>
            <a:r>
              <a:rPr lang="en-US" b="1" dirty="0" err="1"/>
              <a:t>TextStyle</a:t>
            </a:r>
            <a:r>
              <a:rPr lang="en-US" b="1" dirty="0"/>
              <a:t>(</a:t>
            </a:r>
            <a:r>
              <a:rPr lang="en-US" b="1" dirty="0" err="1"/>
              <a:t>fontSize</a:t>
            </a:r>
            <a:r>
              <a:rPr lang="en-US" b="1" dirty="0"/>
              <a:t>: 30</a:t>
            </a:r>
            <a:r>
              <a:rPr lang="en-US" b="1" dirty="0" smtClean="0"/>
              <a:t>),))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        ],</a:t>
            </a:r>
          </a:p>
          <a:p>
            <a:r>
              <a:rPr lang="en-US" b="1" dirty="0"/>
              <a:t>      ),</a:t>
            </a:r>
          </a:p>
          <a:p>
            <a:r>
              <a:rPr lang="en-US" b="1" dirty="0"/>
              <a:t>      </a:t>
            </a:r>
            <a:r>
              <a:rPr lang="en-US" b="1" dirty="0" smtClean="0"/>
              <a:t>)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 } 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50" y="643255"/>
            <a:ext cx="3154680" cy="58981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982" y="643254"/>
            <a:ext cx="3196848" cy="58981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0081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State Management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1816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 Management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3603" y="1240043"/>
            <a:ext cx="13654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</a:rPr>
              <a:t>setState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3603" y="2413061"/>
            <a:ext cx="15247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  <a:latin typeface="Google Sans"/>
              </a:rPr>
              <a:t>Provider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3603" y="3558371"/>
            <a:ext cx="16257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Google Sans"/>
              </a:rPr>
              <a:t>Riverpod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75227" y="1240043"/>
            <a:ext cx="58031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Google Sans"/>
              </a:rPr>
              <a:t>BLoC</a:t>
            </a:r>
            <a:r>
              <a:rPr lang="en-US" sz="2800" dirty="0">
                <a:solidFill>
                  <a:srgbClr val="0070C0"/>
                </a:solidFill>
                <a:latin typeface="Google Sans"/>
              </a:rPr>
              <a:t> (Business Logic Component)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75227" y="2413061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Google Sans"/>
              </a:rPr>
              <a:t>GetX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75227" y="3558371"/>
            <a:ext cx="12250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Google Sans"/>
              </a:rPr>
              <a:t>Redux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84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StatefulWidget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690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StatefulWidget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2510" y="1027837"/>
            <a:ext cx="51908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StatefulWidget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b="1" dirty="0">
                <a:solidFill>
                  <a:srgbClr val="FF0000"/>
                </a:solidFill>
              </a:rPr>
              <a:t>State&lt;</a:t>
            </a:r>
            <a:r>
              <a:rPr lang="en-US" sz="2000" b="1" dirty="0" err="1">
                <a:solidFill>
                  <a:srgbClr val="FF0000"/>
                </a:solidFill>
              </a:rPr>
              <a:t>StatefulWidget</a:t>
            </a:r>
            <a:r>
              <a:rPr lang="en-US" sz="2000" b="1" dirty="0">
                <a:solidFill>
                  <a:srgbClr val="FF0000"/>
                </a:solidFill>
              </a:rPr>
              <a:t>&gt; </a:t>
            </a:r>
            <a:r>
              <a:rPr lang="en-US" sz="2000" b="1" dirty="0" err="1">
                <a:solidFill>
                  <a:srgbClr val="FF0000"/>
                </a:solidFill>
              </a:rPr>
              <a:t>createState</a:t>
            </a:r>
            <a:r>
              <a:rPr lang="en-US" sz="2000" b="1" dirty="0">
                <a:solidFill>
                  <a:srgbClr val="FF0000"/>
                </a:solidFill>
              </a:rPr>
              <a:t>() </a:t>
            </a:r>
            <a:r>
              <a:rPr lang="en-US" sz="2000" b="1" dirty="0" smtClean="0">
                <a:solidFill>
                  <a:srgbClr val="FF0000"/>
                </a:solidFill>
              </a:rPr>
              <a:t>{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               </a:t>
            </a:r>
            <a:r>
              <a:rPr lang="en-US" sz="2000" b="1" dirty="0"/>
              <a:t>return _</a:t>
            </a:r>
            <a:r>
              <a:rPr lang="en-US" sz="2000" b="1" dirty="0" err="1"/>
              <a:t>CounterState</a:t>
            </a:r>
            <a:r>
              <a:rPr lang="en-US" sz="2000" b="1" dirty="0"/>
              <a:t>();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   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           </a:t>
            </a:r>
            <a:r>
              <a:rPr lang="en-US" sz="2000" b="1" dirty="0">
                <a:solidFill>
                  <a:srgbClr val="FF0000"/>
                </a:solidFill>
              </a:rPr>
              <a:t>  }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66062" y="1027837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CounterState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20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 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b="1" dirty="0" smtClean="0">
                <a:solidFill>
                  <a:srgbClr val="0070C0"/>
                </a:solidFill>
              </a:rPr>
              <a:t>Widget </a:t>
            </a:r>
            <a:r>
              <a:rPr lang="en-US" sz="2000" b="1" dirty="0">
                <a:solidFill>
                  <a:srgbClr val="0070C0"/>
                </a:solidFill>
              </a:rPr>
              <a:t>build(</a:t>
            </a:r>
            <a:r>
              <a:rPr lang="en-US" sz="2000" b="1" dirty="0" err="1">
                <a:solidFill>
                  <a:srgbClr val="0070C0"/>
                </a:solidFill>
              </a:rPr>
              <a:t>BuildContext</a:t>
            </a:r>
            <a:r>
              <a:rPr lang="en-US" sz="2000" b="1" dirty="0">
                <a:solidFill>
                  <a:srgbClr val="0070C0"/>
                </a:solidFill>
              </a:rPr>
              <a:t> context) {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    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      </a:t>
            </a:r>
            <a:r>
              <a:rPr lang="en-US" sz="2000" b="1" dirty="0" smtClean="0">
                <a:solidFill>
                  <a:srgbClr val="0070C0"/>
                </a:solidFill>
              </a:rPr>
              <a:t>             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</a:rPr>
              <a:t>                      }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5229" y="1027837"/>
            <a:ext cx="3176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State&lt;Counter&gt;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09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StatefulWidget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30" y="773792"/>
            <a:ext cx="83772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CounterScreen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StatefulWidget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State&lt;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StatefulWidget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createState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=&gt;_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CounterScreenState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 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9958" y="1580184"/>
            <a:ext cx="1180864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CounterScreenState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State&lt;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CounterScreen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_counter=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@override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Widget build(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BuildContext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context)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Scaffold(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body: Column(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children: [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Text(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'Counter::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${_counter}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,style: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TextStyle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fontSize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),),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ElevatedButton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onPressed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(){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_counter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b="1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setState</a:t>
            </a:r>
            <a:r>
              <a:rPr lang="en-US" b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((){}); </a:t>
            </a:r>
            <a:endParaRPr lang="en-US" b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}, child: Text(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'+'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,style: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TextStyle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fontSize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],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);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51389" y="3751868"/>
            <a:ext cx="2384981" cy="19513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Will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call the build the method again and rebuild UI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005633" y="4769964"/>
            <a:ext cx="4157221" cy="9426"/>
          </a:xfrm>
          <a:prstGeom prst="straightConnector1">
            <a:avLst/>
          </a:prstGeom>
          <a:ln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97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68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Google Sans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Umar Farooq</dc:creator>
  <cp:lastModifiedBy>Umar Farooq</cp:lastModifiedBy>
  <cp:revision>30</cp:revision>
  <dcterms:created xsi:type="dcterms:W3CDTF">2025-09-17T09:03:48Z</dcterms:created>
  <dcterms:modified xsi:type="dcterms:W3CDTF">2025-09-24T10:42:09Z</dcterms:modified>
</cp:coreProperties>
</file>